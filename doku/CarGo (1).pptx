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1" r:id="rId6"/>
    <p:sldId id="260" r:id="rId7"/>
    <p:sldId id="272" r:id="rId8"/>
    <p:sldId id="269" r:id="rId9"/>
    <p:sldId id="270" r:id="rId10"/>
    <p:sldId id="296" r:id="rId11"/>
    <p:sldId id="266" r:id="rId12"/>
    <p:sldId id="262" r:id="rId13"/>
    <p:sldId id="263" r:id="rId14"/>
    <p:sldId id="264" r:id="rId15"/>
    <p:sldId id="267" r:id="rId16"/>
    <p:sldId id="268" r:id="rId17"/>
    <p:sldId id="277" r:id="rId18"/>
    <p:sldId id="276" r:id="rId19"/>
    <p:sldId id="275" r:id="rId20"/>
    <p:sldId id="283" r:id="rId21"/>
    <p:sldId id="279" r:id="rId22"/>
    <p:sldId id="280" r:id="rId23"/>
    <p:sldId id="281" r:id="rId24"/>
    <p:sldId id="282" r:id="rId25"/>
    <p:sldId id="284" r:id="rId26"/>
    <p:sldId id="285" r:id="rId27"/>
    <p:sldId id="287" r:id="rId28"/>
    <p:sldId id="289" r:id="rId29"/>
    <p:sldId id="290" r:id="rId30"/>
    <p:sldId id="291" r:id="rId31"/>
    <p:sldId id="292" r:id="rId32"/>
    <p:sldId id="295" r:id="rId33"/>
    <p:sldId id="294" r:id="rId34"/>
    <p:sldId id="293" r:id="rId35"/>
  </p:sldIdLst>
  <p:sldSz cx="12192000" cy="6858000"/>
  <p:notesSz cx="6858000" cy="9144000"/>
  <p:defaultTextStyle>
    <a:defPPr rtl="0">
      <a:defRPr lang="hu-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BA739-C8A4-10CD-A44E-68AD1ADB5352}" v="292" dt="2026-05-17T14:51:07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E1A858-E08E-44C6-A065-5A363F6FBD6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9D9A0F-E6CF-4798-B396-4610BA31FA14}">
      <dgm:prSet/>
      <dgm:spPr/>
      <dgm:t>
        <a:bodyPr/>
        <a:lstStyle/>
        <a:p>
          <a:r>
            <a:rPr lang="hu-HU"/>
            <a:t>Tesztfájlok a tests/ mappában, futtatás: npm test</a:t>
          </a:r>
          <a:endParaRPr lang="en-US"/>
        </a:p>
      </dgm:t>
    </dgm:pt>
    <dgm:pt modelId="{52D9E57B-3907-4357-91E3-52C83C42D68E}" type="parTrans" cxnId="{FC0C9794-DC48-4C41-8B85-F4287DAF7D48}">
      <dgm:prSet/>
      <dgm:spPr/>
      <dgm:t>
        <a:bodyPr/>
        <a:lstStyle/>
        <a:p>
          <a:endParaRPr lang="en-US"/>
        </a:p>
      </dgm:t>
    </dgm:pt>
    <dgm:pt modelId="{9F4C643E-6CE9-4DA7-BFD7-0509819229D9}" type="sibTrans" cxnId="{FC0C9794-DC48-4C41-8B85-F4287DAF7D48}">
      <dgm:prSet/>
      <dgm:spPr/>
      <dgm:t>
        <a:bodyPr/>
        <a:lstStyle/>
        <a:p>
          <a:endParaRPr lang="en-US"/>
        </a:p>
      </dgm:t>
    </dgm:pt>
    <dgm:pt modelId="{A4B5BF98-1CB4-4B19-90F1-290DC7236413}">
      <dgm:prSet/>
      <dgm:spPr/>
      <dgm:t>
        <a:bodyPr/>
        <a:lstStyle/>
        <a:p>
          <a:r>
            <a:rPr lang="hu-HU"/>
            <a:t>auth.test.js:</a:t>
          </a:r>
          <a:endParaRPr lang="en-US"/>
        </a:p>
      </dgm:t>
    </dgm:pt>
    <dgm:pt modelId="{2DE79312-E468-49A3-8958-FD7E8FA5D0BE}" type="parTrans" cxnId="{9CFF52B9-4D01-4A90-B637-D564C7E8A846}">
      <dgm:prSet/>
      <dgm:spPr/>
      <dgm:t>
        <a:bodyPr/>
        <a:lstStyle/>
        <a:p>
          <a:endParaRPr lang="en-US"/>
        </a:p>
      </dgm:t>
    </dgm:pt>
    <dgm:pt modelId="{53766193-46CD-4B16-A430-E2661ADB2D97}" type="sibTrans" cxnId="{9CFF52B9-4D01-4A90-B637-D564C7E8A846}">
      <dgm:prSet/>
      <dgm:spPr/>
      <dgm:t>
        <a:bodyPr/>
        <a:lstStyle/>
        <a:p>
          <a:endParaRPr lang="en-US"/>
        </a:p>
      </dgm:t>
    </dgm:pt>
    <dgm:pt modelId="{5784BE9A-BBC9-4958-B99A-5F54FA44D3A6}">
      <dgm:prSet/>
      <dgm:spPr/>
      <dgm:t>
        <a:bodyPr/>
        <a:lstStyle/>
        <a:p>
          <a:r>
            <a:rPr lang="hu-HU"/>
            <a:t>Email formátum ellenőrzés</a:t>
          </a:r>
          <a:endParaRPr lang="en-US"/>
        </a:p>
      </dgm:t>
    </dgm:pt>
    <dgm:pt modelId="{F412F2E4-7D88-435F-8678-0B9B548D78CD}" type="parTrans" cxnId="{66E367D8-65E5-4F35-9C53-54D993D93333}">
      <dgm:prSet/>
      <dgm:spPr/>
      <dgm:t>
        <a:bodyPr/>
        <a:lstStyle/>
        <a:p>
          <a:endParaRPr lang="en-US"/>
        </a:p>
      </dgm:t>
    </dgm:pt>
    <dgm:pt modelId="{10921D92-7B6E-48FC-BF5C-1E25F5EE049E}" type="sibTrans" cxnId="{66E367D8-65E5-4F35-9C53-54D993D93333}">
      <dgm:prSet/>
      <dgm:spPr/>
      <dgm:t>
        <a:bodyPr/>
        <a:lstStyle/>
        <a:p>
          <a:endParaRPr lang="en-US"/>
        </a:p>
      </dgm:t>
    </dgm:pt>
    <dgm:pt modelId="{8C07036E-D22B-4757-A9DB-D0E4C16BB107}">
      <dgm:prSet/>
      <dgm:spPr/>
      <dgm:t>
        <a:bodyPr/>
        <a:lstStyle/>
        <a:p>
          <a:r>
            <a:rPr lang="hu-HU"/>
            <a:t>Jelszó hossz validáció</a:t>
          </a:r>
          <a:endParaRPr lang="en-US"/>
        </a:p>
      </dgm:t>
    </dgm:pt>
    <dgm:pt modelId="{F386B656-76D5-4D38-8545-3F39221121AA}" type="parTrans" cxnId="{DCA3E2CD-1F99-4CE4-BF44-AFF4D05FF80A}">
      <dgm:prSet/>
      <dgm:spPr/>
      <dgm:t>
        <a:bodyPr/>
        <a:lstStyle/>
        <a:p>
          <a:endParaRPr lang="en-US"/>
        </a:p>
      </dgm:t>
    </dgm:pt>
    <dgm:pt modelId="{2A9CDEAC-6AFE-43FA-AF0D-CB633FF7BF82}" type="sibTrans" cxnId="{DCA3E2CD-1F99-4CE4-BF44-AFF4D05FF80A}">
      <dgm:prSet/>
      <dgm:spPr/>
      <dgm:t>
        <a:bodyPr/>
        <a:lstStyle/>
        <a:p>
          <a:endParaRPr lang="en-US"/>
        </a:p>
      </dgm:t>
    </dgm:pt>
    <dgm:pt modelId="{43AA9C0F-2B30-4921-BA14-4A87D8D2D935}">
      <dgm:prSet/>
      <dgm:spPr/>
      <dgm:t>
        <a:bodyPr/>
        <a:lstStyle/>
        <a:p>
          <a:r>
            <a:rPr lang="hu-HU"/>
            <a:t>Verifikációs kód formátum (6 számjegy)</a:t>
          </a:r>
          <a:endParaRPr lang="en-US"/>
        </a:p>
      </dgm:t>
    </dgm:pt>
    <dgm:pt modelId="{16650A55-B406-4039-B8C8-9CB71BB1895B}" type="parTrans" cxnId="{90088589-2CB2-44FD-A654-E37A828D0534}">
      <dgm:prSet/>
      <dgm:spPr/>
      <dgm:t>
        <a:bodyPr/>
        <a:lstStyle/>
        <a:p>
          <a:endParaRPr lang="en-US"/>
        </a:p>
      </dgm:t>
    </dgm:pt>
    <dgm:pt modelId="{E7A0035A-5098-48D1-8889-D49582B5D105}" type="sibTrans" cxnId="{90088589-2CB2-44FD-A654-E37A828D0534}">
      <dgm:prSet/>
      <dgm:spPr/>
      <dgm:t>
        <a:bodyPr/>
        <a:lstStyle/>
        <a:p>
          <a:endParaRPr lang="en-US"/>
        </a:p>
      </dgm:t>
    </dgm:pt>
    <dgm:pt modelId="{F778C6E1-4E09-4CEA-81FC-798D45C446C7}">
      <dgm:prSet/>
      <dgm:spPr/>
      <dgm:t>
        <a:bodyPr/>
        <a:lstStyle/>
        <a:p>
          <a:r>
            <a:rPr lang="hu-HU"/>
            <a:t>Token generálás és visszafejtés</a:t>
          </a:r>
          <a:endParaRPr lang="en-US"/>
        </a:p>
      </dgm:t>
    </dgm:pt>
    <dgm:pt modelId="{A464AB40-4EF4-406D-B63B-D7C5816F29A8}" type="parTrans" cxnId="{B80A9FDE-492D-434C-96A2-BEB7539EBD2E}">
      <dgm:prSet/>
      <dgm:spPr/>
      <dgm:t>
        <a:bodyPr/>
        <a:lstStyle/>
        <a:p>
          <a:endParaRPr lang="en-US"/>
        </a:p>
      </dgm:t>
    </dgm:pt>
    <dgm:pt modelId="{B969A0F4-12A7-4FE8-B7BC-BD269B250E83}" type="sibTrans" cxnId="{B80A9FDE-492D-434C-96A2-BEB7539EBD2E}">
      <dgm:prSet/>
      <dgm:spPr/>
      <dgm:t>
        <a:bodyPr/>
        <a:lstStyle/>
        <a:p>
          <a:endParaRPr lang="en-US"/>
        </a:p>
      </dgm:t>
    </dgm:pt>
    <dgm:pt modelId="{213F6468-BCC2-4805-8BD8-543D14ACA25F}">
      <dgm:prSet/>
      <dgm:spPr/>
      <dgm:t>
        <a:bodyPr/>
        <a:lstStyle/>
        <a:p>
          <a:r>
            <a:rPr lang="hu-HU"/>
            <a:t>cars.test.js:</a:t>
          </a:r>
          <a:endParaRPr lang="en-US"/>
        </a:p>
      </dgm:t>
    </dgm:pt>
    <dgm:pt modelId="{2E0AAB16-7B18-46B7-A59A-0A73E6CBD294}" type="parTrans" cxnId="{D9846197-4BF9-4AF8-B80A-61140BAB2395}">
      <dgm:prSet/>
      <dgm:spPr/>
      <dgm:t>
        <a:bodyPr/>
        <a:lstStyle/>
        <a:p>
          <a:endParaRPr lang="en-US"/>
        </a:p>
      </dgm:t>
    </dgm:pt>
    <dgm:pt modelId="{F869EE1B-6C59-4934-B181-ECA917E15925}" type="sibTrans" cxnId="{D9846197-4BF9-4AF8-B80A-61140BAB2395}">
      <dgm:prSet/>
      <dgm:spPr/>
      <dgm:t>
        <a:bodyPr/>
        <a:lstStyle/>
        <a:p>
          <a:endParaRPr lang="en-US"/>
        </a:p>
      </dgm:t>
    </dgm:pt>
    <dgm:pt modelId="{AD0C2FE3-F889-4DF2-9A7F-1E7BB82D6455}">
      <dgm:prSet/>
      <dgm:spPr/>
      <dgm:t>
        <a:bodyPr/>
        <a:lstStyle/>
        <a:p>
          <a:r>
            <a:rPr lang="hu-HU"/>
            <a:t>Kategória, ár, váltó, ülőhely szerinti szűrés</a:t>
          </a:r>
          <a:endParaRPr lang="en-US"/>
        </a:p>
      </dgm:t>
    </dgm:pt>
    <dgm:pt modelId="{5B74C694-AF51-4DD0-BA3C-92EC8026DE37}" type="parTrans" cxnId="{9E9F14AD-EFD2-497A-A9CF-1A02BE3140A8}">
      <dgm:prSet/>
      <dgm:spPr/>
      <dgm:t>
        <a:bodyPr/>
        <a:lstStyle/>
        <a:p>
          <a:endParaRPr lang="en-US"/>
        </a:p>
      </dgm:t>
    </dgm:pt>
    <dgm:pt modelId="{F9065D1E-7BE0-46AF-8BEE-80869D39F200}" type="sibTrans" cxnId="{9E9F14AD-EFD2-497A-A9CF-1A02BE3140A8}">
      <dgm:prSet/>
      <dgm:spPr/>
      <dgm:t>
        <a:bodyPr/>
        <a:lstStyle/>
        <a:p>
          <a:endParaRPr lang="en-US"/>
        </a:p>
      </dgm:t>
    </dgm:pt>
    <dgm:pt modelId="{F9EED294-A6A3-48AA-B56E-BCE6AE630E76}">
      <dgm:prSet/>
      <dgm:spPr/>
      <dgm:t>
        <a:bodyPr/>
        <a:lstStyle/>
        <a:p>
          <a:r>
            <a:rPr lang="hu-HU"/>
            <a:t>Bérlési napok számítása</a:t>
          </a:r>
          <a:endParaRPr lang="en-US"/>
        </a:p>
      </dgm:t>
    </dgm:pt>
    <dgm:pt modelId="{25B6F1A1-82A5-4BBB-917A-DF6730D5BBC9}" type="parTrans" cxnId="{0C98A89D-6A6A-439C-BD5D-08934A91EC57}">
      <dgm:prSet/>
      <dgm:spPr/>
      <dgm:t>
        <a:bodyPr/>
        <a:lstStyle/>
        <a:p>
          <a:endParaRPr lang="en-US"/>
        </a:p>
      </dgm:t>
    </dgm:pt>
    <dgm:pt modelId="{AD5ECB40-32C3-4BC5-873B-455BE535DB7B}" type="sibTrans" cxnId="{0C98A89D-6A6A-439C-BD5D-08934A91EC57}">
      <dgm:prSet/>
      <dgm:spPr/>
      <dgm:t>
        <a:bodyPr/>
        <a:lstStyle/>
        <a:p>
          <a:endParaRPr lang="en-US"/>
        </a:p>
      </dgm:t>
    </dgm:pt>
    <dgm:pt modelId="{D828A462-796A-469F-ADFB-3C1C4DA132E8}">
      <dgm:prSet/>
      <dgm:spPr/>
      <dgm:t>
        <a:bodyPr/>
        <a:lstStyle/>
        <a:p>
          <a:r>
            <a:rPr lang="hu-HU"/>
            <a:t>Teljes ár számítása</a:t>
          </a:r>
          <a:endParaRPr lang="en-US"/>
        </a:p>
      </dgm:t>
    </dgm:pt>
    <dgm:pt modelId="{25E28D4D-D867-40C8-8DE0-43C297685931}" type="parTrans" cxnId="{67C153FD-E775-4058-AEF5-5A2FEE23F0F7}">
      <dgm:prSet/>
      <dgm:spPr/>
      <dgm:t>
        <a:bodyPr/>
        <a:lstStyle/>
        <a:p>
          <a:endParaRPr lang="en-US"/>
        </a:p>
      </dgm:t>
    </dgm:pt>
    <dgm:pt modelId="{A8F12F03-9E9E-4493-A858-7A392B6777A3}" type="sibTrans" cxnId="{67C153FD-E775-4058-AEF5-5A2FEE23F0F7}">
      <dgm:prSet/>
      <dgm:spPr/>
      <dgm:t>
        <a:bodyPr/>
        <a:lstStyle/>
        <a:p>
          <a:endParaRPr lang="en-US"/>
        </a:p>
      </dgm:t>
    </dgm:pt>
    <dgm:pt modelId="{ECC781B1-0886-401D-99A5-AF52645F56F4}">
      <dgm:prSet/>
      <dgm:spPr/>
      <dgm:t>
        <a:bodyPr/>
        <a:lstStyle/>
        <a:p>
          <a:r>
            <a:rPr lang="hu-HU"/>
            <a:t>Dátum validáció</a:t>
          </a:r>
          <a:endParaRPr lang="en-US"/>
        </a:p>
      </dgm:t>
    </dgm:pt>
    <dgm:pt modelId="{E2D929D6-E44F-4076-90CB-8A8BA2706274}" type="parTrans" cxnId="{B77E5EEB-14D1-4149-A7D0-6F2085CE35BB}">
      <dgm:prSet/>
      <dgm:spPr/>
      <dgm:t>
        <a:bodyPr/>
        <a:lstStyle/>
        <a:p>
          <a:endParaRPr lang="en-US"/>
        </a:p>
      </dgm:t>
    </dgm:pt>
    <dgm:pt modelId="{D1942099-F4EE-42F5-8185-79D23ECB0AD3}" type="sibTrans" cxnId="{B77E5EEB-14D1-4149-A7D0-6F2085CE35BB}">
      <dgm:prSet/>
      <dgm:spPr/>
      <dgm:t>
        <a:bodyPr/>
        <a:lstStyle/>
        <a:p>
          <a:endParaRPr lang="en-US"/>
        </a:p>
      </dgm:t>
    </dgm:pt>
    <dgm:pt modelId="{1C94A92A-ABD4-4431-B7FA-A249BCA19F07}">
      <dgm:prSet/>
      <dgm:spPr/>
      <dgm:t>
        <a:bodyPr/>
        <a:lstStyle/>
        <a:p>
          <a:r>
            <a:rPr lang="hu-HU"/>
            <a:t>Eredmény: 15/15 teszt sikeres</a:t>
          </a:r>
          <a:br>
            <a:rPr lang="hu-HU"/>
          </a:br>
          <a:endParaRPr lang="en-US"/>
        </a:p>
      </dgm:t>
    </dgm:pt>
    <dgm:pt modelId="{4A894DB1-D06D-4633-A658-9C356BD0A3D8}" type="parTrans" cxnId="{BAFD1299-6D16-44AD-B5B2-327968FC908F}">
      <dgm:prSet/>
      <dgm:spPr/>
      <dgm:t>
        <a:bodyPr/>
        <a:lstStyle/>
        <a:p>
          <a:endParaRPr lang="en-US"/>
        </a:p>
      </dgm:t>
    </dgm:pt>
    <dgm:pt modelId="{A71E3029-6957-47E4-B89B-777F929332B2}" type="sibTrans" cxnId="{BAFD1299-6D16-44AD-B5B2-327968FC908F}">
      <dgm:prSet/>
      <dgm:spPr/>
      <dgm:t>
        <a:bodyPr/>
        <a:lstStyle/>
        <a:p>
          <a:endParaRPr lang="en-US"/>
        </a:p>
      </dgm:t>
    </dgm:pt>
    <dgm:pt modelId="{FC3FEE8A-0D70-41E0-832A-8842B14C99A7}" type="pres">
      <dgm:prSet presAssocID="{13E1A858-E08E-44C6-A065-5A363F6FBD68}" presName="Name0" presStyleCnt="0">
        <dgm:presLayoutVars>
          <dgm:dir/>
          <dgm:animLvl val="lvl"/>
          <dgm:resizeHandles val="exact"/>
        </dgm:presLayoutVars>
      </dgm:prSet>
      <dgm:spPr/>
    </dgm:pt>
    <dgm:pt modelId="{4205078D-D7A8-47DB-A860-296D062E2451}" type="pres">
      <dgm:prSet presAssocID="{213F6468-BCC2-4805-8BD8-543D14ACA25F}" presName="boxAndChildren" presStyleCnt="0"/>
      <dgm:spPr/>
    </dgm:pt>
    <dgm:pt modelId="{AABBD3D9-65E9-46F2-89A1-C8E19436C28C}" type="pres">
      <dgm:prSet presAssocID="{213F6468-BCC2-4805-8BD8-543D14ACA25F}" presName="parentTextBox" presStyleLbl="node1" presStyleIdx="0" presStyleCnt="3"/>
      <dgm:spPr/>
    </dgm:pt>
    <dgm:pt modelId="{A404C892-8DE5-4238-8003-98512A16067C}" type="pres">
      <dgm:prSet presAssocID="{213F6468-BCC2-4805-8BD8-543D14ACA25F}" presName="entireBox" presStyleLbl="node1" presStyleIdx="0" presStyleCnt="3"/>
      <dgm:spPr/>
    </dgm:pt>
    <dgm:pt modelId="{2FFB99E8-2338-4B6B-A619-30F5A33FDCB9}" type="pres">
      <dgm:prSet presAssocID="{213F6468-BCC2-4805-8BD8-543D14ACA25F}" presName="descendantBox" presStyleCnt="0"/>
      <dgm:spPr/>
    </dgm:pt>
    <dgm:pt modelId="{9C65D3B8-8243-44EB-86AC-9ACD53843473}" type="pres">
      <dgm:prSet presAssocID="{AD0C2FE3-F889-4DF2-9A7F-1E7BB82D6455}" presName="childTextBox" presStyleLbl="fgAccFollowNode1" presStyleIdx="0" presStyleCnt="9">
        <dgm:presLayoutVars>
          <dgm:bulletEnabled val="1"/>
        </dgm:presLayoutVars>
      </dgm:prSet>
      <dgm:spPr/>
    </dgm:pt>
    <dgm:pt modelId="{842FFBEF-02EE-4BA7-91DE-D3D01416A922}" type="pres">
      <dgm:prSet presAssocID="{F9EED294-A6A3-48AA-B56E-BCE6AE630E76}" presName="childTextBox" presStyleLbl="fgAccFollowNode1" presStyleIdx="1" presStyleCnt="9">
        <dgm:presLayoutVars>
          <dgm:bulletEnabled val="1"/>
        </dgm:presLayoutVars>
      </dgm:prSet>
      <dgm:spPr/>
    </dgm:pt>
    <dgm:pt modelId="{A3BA73F9-C53C-4B8A-A75F-D67912C69EE4}" type="pres">
      <dgm:prSet presAssocID="{D828A462-796A-469F-ADFB-3C1C4DA132E8}" presName="childTextBox" presStyleLbl="fgAccFollowNode1" presStyleIdx="2" presStyleCnt="9">
        <dgm:presLayoutVars>
          <dgm:bulletEnabled val="1"/>
        </dgm:presLayoutVars>
      </dgm:prSet>
      <dgm:spPr/>
    </dgm:pt>
    <dgm:pt modelId="{BC16727F-7FE8-4972-ABA6-D9D767979C2F}" type="pres">
      <dgm:prSet presAssocID="{ECC781B1-0886-401D-99A5-AF52645F56F4}" presName="childTextBox" presStyleLbl="fgAccFollowNode1" presStyleIdx="3" presStyleCnt="9">
        <dgm:presLayoutVars>
          <dgm:bulletEnabled val="1"/>
        </dgm:presLayoutVars>
      </dgm:prSet>
      <dgm:spPr/>
    </dgm:pt>
    <dgm:pt modelId="{F3D293FB-0E13-4976-A85A-D31E9DF46D4D}" type="pres">
      <dgm:prSet presAssocID="{1C94A92A-ABD4-4431-B7FA-A249BCA19F07}" presName="childTextBox" presStyleLbl="fgAccFollowNode1" presStyleIdx="4" presStyleCnt="9">
        <dgm:presLayoutVars>
          <dgm:bulletEnabled val="1"/>
        </dgm:presLayoutVars>
      </dgm:prSet>
      <dgm:spPr/>
    </dgm:pt>
    <dgm:pt modelId="{0E1ED91E-AC25-42D4-B558-A02BEEFCCB4D}" type="pres">
      <dgm:prSet presAssocID="{53766193-46CD-4B16-A430-E2661ADB2D97}" presName="sp" presStyleCnt="0"/>
      <dgm:spPr/>
    </dgm:pt>
    <dgm:pt modelId="{7131BC9D-7714-4C7F-8C82-FFF4A69BCAD6}" type="pres">
      <dgm:prSet presAssocID="{A4B5BF98-1CB4-4B19-90F1-290DC7236413}" presName="arrowAndChildren" presStyleCnt="0"/>
      <dgm:spPr/>
    </dgm:pt>
    <dgm:pt modelId="{2E0C661C-6137-46AF-A56A-C98C04FC389A}" type="pres">
      <dgm:prSet presAssocID="{A4B5BF98-1CB4-4B19-90F1-290DC7236413}" presName="parentTextArrow" presStyleLbl="node1" presStyleIdx="0" presStyleCnt="3"/>
      <dgm:spPr/>
    </dgm:pt>
    <dgm:pt modelId="{F175E5E1-4739-4A10-9BA3-C5C505B6119D}" type="pres">
      <dgm:prSet presAssocID="{A4B5BF98-1CB4-4B19-90F1-290DC7236413}" presName="arrow" presStyleLbl="node1" presStyleIdx="1" presStyleCnt="3"/>
      <dgm:spPr/>
    </dgm:pt>
    <dgm:pt modelId="{23BBB4F9-306F-40EF-A51F-C6F640947246}" type="pres">
      <dgm:prSet presAssocID="{A4B5BF98-1CB4-4B19-90F1-290DC7236413}" presName="descendantArrow" presStyleCnt="0"/>
      <dgm:spPr/>
    </dgm:pt>
    <dgm:pt modelId="{0F20894A-1ED1-46DD-8810-973BCDFAAC88}" type="pres">
      <dgm:prSet presAssocID="{5784BE9A-BBC9-4958-B99A-5F54FA44D3A6}" presName="childTextArrow" presStyleLbl="fgAccFollowNode1" presStyleIdx="5" presStyleCnt="9">
        <dgm:presLayoutVars>
          <dgm:bulletEnabled val="1"/>
        </dgm:presLayoutVars>
      </dgm:prSet>
      <dgm:spPr/>
    </dgm:pt>
    <dgm:pt modelId="{8627404A-10C6-4E1C-9097-93BD15E11D0E}" type="pres">
      <dgm:prSet presAssocID="{8C07036E-D22B-4757-A9DB-D0E4C16BB107}" presName="childTextArrow" presStyleLbl="fgAccFollowNode1" presStyleIdx="6" presStyleCnt="9">
        <dgm:presLayoutVars>
          <dgm:bulletEnabled val="1"/>
        </dgm:presLayoutVars>
      </dgm:prSet>
      <dgm:spPr/>
    </dgm:pt>
    <dgm:pt modelId="{B3F30FF1-BEA0-45AD-A191-6FC3F165BF8D}" type="pres">
      <dgm:prSet presAssocID="{43AA9C0F-2B30-4921-BA14-4A87D8D2D935}" presName="childTextArrow" presStyleLbl="fgAccFollowNode1" presStyleIdx="7" presStyleCnt="9">
        <dgm:presLayoutVars>
          <dgm:bulletEnabled val="1"/>
        </dgm:presLayoutVars>
      </dgm:prSet>
      <dgm:spPr/>
    </dgm:pt>
    <dgm:pt modelId="{78F1006E-48E0-4F72-937D-ECA62F992E6F}" type="pres">
      <dgm:prSet presAssocID="{F778C6E1-4E09-4CEA-81FC-798D45C446C7}" presName="childTextArrow" presStyleLbl="fgAccFollowNode1" presStyleIdx="8" presStyleCnt="9">
        <dgm:presLayoutVars>
          <dgm:bulletEnabled val="1"/>
        </dgm:presLayoutVars>
      </dgm:prSet>
      <dgm:spPr/>
    </dgm:pt>
    <dgm:pt modelId="{07DC290D-3AE7-4A69-8648-61624E1134B0}" type="pres">
      <dgm:prSet presAssocID="{9F4C643E-6CE9-4DA7-BFD7-0509819229D9}" presName="sp" presStyleCnt="0"/>
      <dgm:spPr/>
    </dgm:pt>
    <dgm:pt modelId="{0353AB6B-93D6-450D-8AF3-E4137E12585D}" type="pres">
      <dgm:prSet presAssocID="{B29D9A0F-E6CF-4798-B396-4610BA31FA14}" presName="arrowAndChildren" presStyleCnt="0"/>
      <dgm:spPr/>
    </dgm:pt>
    <dgm:pt modelId="{0A39DF28-94FB-4258-8913-E3F9848D7CC1}" type="pres">
      <dgm:prSet presAssocID="{B29D9A0F-E6CF-4798-B396-4610BA31FA14}" presName="parentTextArrow" presStyleLbl="node1" presStyleIdx="2" presStyleCnt="3"/>
      <dgm:spPr/>
    </dgm:pt>
  </dgm:ptLst>
  <dgm:cxnLst>
    <dgm:cxn modelId="{93CF6C07-3197-4905-A8B9-5E35B981D294}" type="presOf" srcId="{ECC781B1-0886-401D-99A5-AF52645F56F4}" destId="{BC16727F-7FE8-4972-ABA6-D9D767979C2F}" srcOrd="0" destOrd="0" presId="urn:microsoft.com/office/officeart/2005/8/layout/process4"/>
    <dgm:cxn modelId="{337C3F1E-F17B-414D-8A81-51BA6CDFD162}" type="presOf" srcId="{AD0C2FE3-F889-4DF2-9A7F-1E7BB82D6455}" destId="{9C65D3B8-8243-44EB-86AC-9ACD53843473}" srcOrd="0" destOrd="0" presId="urn:microsoft.com/office/officeart/2005/8/layout/process4"/>
    <dgm:cxn modelId="{B0588222-0FFB-44B1-A17B-9D0985EBEA21}" type="presOf" srcId="{B29D9A0F-E6CF-4798-B396-4610BA31FA14}" destId="{0A39DF28-94FB-4258-8913-E3F9848D7CC1}" srcOrd="0" destOrd="0" presId="urn:microsoft.com/office/officeart/2005/8/layout/process4"/>
    <dgm:cxn modelId="{476A0369-1308-4779-BBC5-C521835EC4BA}" type="presOf" srcId="{43AA9C0F-2B30-4921-BA14-4A87D8D2D935}" destId="{B3F30FF1-BEA0-45AD-A191-6FC3F165BF8D}" srcOrd="0" destOrd="0" presId="urn:microsoft.com/office/officeart/2005/8/layout/process4"/>
    <dgm:cxn modelId="{5EC8654E-F92F-4139-8E10-F5A524DD83F6}" type="presOf" srcId="{8C07036E-D22B-4757-A9DB-D0E4C16BB107}" destId="{8627404A-10C6-4E1C-9097-93BD15E11D0E}" srcOrd="0" destOrd="0" presId="urn:microsoft.com/office/officeart/2005/8/layout/process4"/>
    <dgm:cxn modelId="{27F0A052-F016-4908-B195-561356BC384B}" type="presOf" srcId="{213F6468-BCC2-4805-8BD8-543D14ACA25F}" destId="{AABBD3D9-65E9-46F2-89A1-C8E19436C28C}" srcOrd="0" destOrd="0" presId="urn:microsoft.com/office/officeart/2005/8/layout/process4"/>
    <dgm:cxn modelId="{62112279-1AEC-4F04-8187-A7B3D874F8B5}" type="presOf" srcId="{213F6468-BCC2-4805-8BD8-543D14ACA25F}" destId="{A404C892-8DE5-4238-8003-98512A16067C}" srcOrd="1" destOrd="0" presId="urn:microsoft.com/office/officeart/2005/8/layout/process4"/>
    <dgm:cxn modelId="{2C010D7F-6725-49C5-A9DF-49FDEB6F1A32}" type="presOf" srcId="{A4B5BF98-1CB4-4B19-90F1-290DC7236413}" destId="{F175E5E1-4739-4A10-9BA3-C5C505B6119D}" srcOrd="1" destOrd="0" presId="urn:microsoft.com/office/officeart/2005/8/layout/process4"/>
    <dgm:cxn modelId="{6C890583-FDC1-4031-83B8-EEFF7522593B}" type="presOf" srcId="{F9EED294-A6A3-48AA-B56E-BCE6AE630E76}" destId="{842FFBEF-02EE-4BA7-91DE-D3D01416A922}" srcOrd="0" destOrd="0" presId="urn:microsoft.com/office/officeart/2005/8/layout/process4"/>
    <dgm:cxn modelId="{90088589-2CB2-44FD-A654-E37A828D0534}" srcId="{A4B5BF98-1CB4-4B19-90F1-290DC7236413}" destId="{43AA9C0F-2B30-4921-BA14-4A87D8D2D935}" srcOrd="2" destOrd="0" parTransId="{16650A55-B406-4039-B8C8-9CB71BB1895B}" sibTransId="{E7A0035A-5098-48D1-8889-D49582B5D105}"/>
    <dgm:cxn modelId="{FC0C9794-DC48-4C41-8B85-F4287DAF7D48}" srcId="{13E1A858-E08E-44C6-A065-5A363F6FBD68}" destId="{B29D9A0F-E6CF-4798-B396-4610BA31FA14}" srcOrd="0" destOrd="0" parTransId="{52D9E57B-3907-4357-91E3-52C83C42D68E}" sibTransId="{9F4C643E-6CE9-4DA7-BFD7-0509819229D9}"/>
    <dgm:cxn modelId="{D9846197-4BF9-4AF8-B80A-61140BAB2395}" srcId="{13E1A858-E08E-44C6-A065-5A363F6FBD68}" destId="{213F6468-BCC2-4805-8BD8-543D14ACA25F}" srcOrd="2" destOrd="0" parTransId="{2E0AAB16-7B18-46B7-A59A-0A73E6CBD294}" sibTransId="{F869EE1B-6C59-4934-B181-ECA917E15925}"/>
    <dgm:cxn modelId="{BAFD1299-6D16-44AD-B5B2-327968FC908F}" srcId="{213F6468-BCC2-4805-8BD8-543D14ACA25F}" destId="{1C94A92A-ABD4-4431-B7FA-A249BCA19F07}" srcOrd="4" destOrd="0" parTransId="{4A894DB1-D06D-4633-A658-9C356BD0A3D8}" sibTransId="{A71E3029-6957-47E4-B89B-777F929332B2}"/>
    <dgm:cxn modelId="{B0AFBA9B-3AD9-48D5-8F43-DEADF4DD90D2}" type="presOf" srcId="{A4B5BF98-1CB4-4B19-90F1-290DC7236413}" destId="{2E0C661C-6137-46AF-A56A-C98C04FC389A}" srcOrd="0" destOrd="0" presId="urn:microsoft.com/office/officeart/2005/8/layout/process4"/>
    <dgm:cxn modelId="{0C98A89D-6A6A-439C-BD5D-08934A91EC57}" srcId="{213F6468-BCC2-4805-8BD8-543D14ACA25F}" destId="{F9EED294-A6A3-48AA-B56E-BCE6AE630E76}" srcOrd="1" destOrd="0" parTransId="{25B6F1A1-82A5-4BBB-917A-DF6730D5BBC9}" sibTransId="{AD5ECB40-32C3-4BC5-873B-455BE535DB7B}"/>
    <dgm:cxn modelId="{9E9F14AD-EFD2-497A-A9CF-1A02BE3140A8}" srcId="{213F6468-BCC2-4805-8BD8-543D14ACA25F}" destId="{AD0C2FE3-F889-4DF2-9A7F-1E7BB82D6455}" srcOrd="0" destOrd="0" parTransId="{5B74C694-AF51-4DD0-BA3C-92EC8026DE37}" sibTransId="{F9065D1E-7BE0-46AF-8BEE-80869D39F200}"/>
    <dgm:cxn modelId="{E4B73AB7-C530-49F5-9A29-C10187C95731}" type="presOf" srcId="{F778C6E1-4E09-4CEA-81FC-798D45C446C7}" destId="{78F1006E-48E0-4F72-937D-ECA62F992E6F}" srcOrd="0" destOrd="0" presId="urn:microsoft.com/office/officeart/2005/8/layout/process4"/>
    <dgm:cxn modelId="{9CFF52B9-4D01-4A90-B637-D564C7E8A846}" srcId="{13E1A858-E08E-44C6-A065-5A363F6FBD68}" destId="{A4B5BF98-1CB4-4B19-90F1-290DC7236413}" srcOrd="1" destOrd="0" parTransId="{2DE79312-E468-49A3-8958-FD7E8FA5D0BE}" sibTransId="{53766193-46CD-4B16-A430-E2661ADB2D97}"/>
    <dgm:cxn modelId="{2BA8CACD-EE70-4E87-A367-6EC68ADB7720}" type="presOf" srcId="{5784BE9A-BBC9-4958-B99A-5F54FA44D3A6}" destId="{0F20894A-1ED1-46DD-8810-973BCDFAAC88}" srcOrd="0" destOrd="0" presId="urn:microsoft.com/office/officeart/2005/8/layout/process4"/>
    <dgm:cxn modelId="{DCA3E2CD-1F99-4CE4-BF44-AFF4D05FF80A}" srcId="{A4B5BF98-1CB4-4B19-90F1-290DC7236413}" destId="{8C07036E-D22B-4757-A9DB-D0E4C16BB107}" srcOrd="1" destOrd="0" parTransId="{F386B656-76D5-4D38-8545-3F39221121AA}" sibTransId="{2A9CDEAC-6AFE-43FA-AF0D-CB633FF7BF82}"/>
    <dgm:cxn modelId="{66E367D8-65E5-4F35-9C53-54D993D93333}" srcId="{A4B5BF98-1CB4-4B19-90F1-290DC7236413}" destId="{5784BE9A-BBC9-4958-B99A-5F54FA44D3A6}" srcOrd="0" destOrd="0" parTransId="{F412F2E4-7D88-435F-8678-0B9B548D78CD}" sibTransId="{10921D92-7B6E-48FC-BF5C-1E25F5EE049E}"/>
    <dgm:cxn modelId="{B80A9FDE-492D-434C-96A2-BEB7539EBD2E}" srcId="{A4B5BF98-1CB4-4B19-90F1-290DC7236413}" destId="{F778C6E1-4E09-4CEA-81FC-798D45C446C7}" srcOrd="3" destOrd="0" parTransId="{A464AB40-4EF4-406D-B63B-D7C5816F29A8}" sibTransId="{B969A0F4-12A7-4FE8-B7BC-BD269B250E83}"/>
    <dgm:cxn modelId="{DD6379E4-9F82-4E81-9613-EEE045D0F7F1}" type="presOf" srcId="{D828A462-796A-469F-ADFB-3C1C4DA132E8}" destId="{A3BA73F9-C53C-4B8A-A75F-D67912C69EE4}" srcOrd="0" destOrd="0" presId="urn:microsoft.com/office/officeart/2005/8/layout/process4"/>
    <dgm:cxn modelId="{B77E5EEB-14D1-4149-A7D0-6F2085CE35BB}" srcId="{213F6468-BCC2-4805-8BD8-543D14ACA25F}" destId="{ECC781B1-0886-401D-99A5-AF52645F56F4}" srcOrd="3" destOrd="0" parTransId="{E2D929D6-E44F-4076-90CB-8A8BA2706274}" sibTransId="{D1942099-F4EE-42F5-8185-79D23ECB0AD3}"/>
    <dgm:cxn modelId="{67C153FD-E775-4058-AEF5-5A2FEE23F0F7}" srcId="{213F6468-BCC2-4805-8BD8-543D14ACA25F}" destId="{D828A462-796A-469F-ADFB-3C1C4DA132E8}" srcOrd="2" destOrd="0" parTransId="{25E28D4D-D867-40C8-8DE0-43C297685931}" sibTransId="{A8F12F03-9E9E-4493-A858-7A392B6777A3}"/>
    <dgm:cxn modelId="{68F1BFFD-A1F7-4A05-8902-B89DF106DEE9}" type="presOf" srcId="{1C94A92A-ABD4-4431-B7FA-A249BCA19F07}" destId="{F3D293FB-0E13-4976-A85A-D31E9DF46D4D}" srcOrd="0" destOrd="0" presId="urn:microsoft.com/office/officeart/2005/8/layout/process4"/>
    <dgm:cxn modelId="{93B2B7FE-10E6-414B-BC62-88E020573EDB}" type="presOf" srcId="{13E1A858-E08E-44C6-A065-5A363F6FBD68}" destId="{FC3FEE8A-0D70-41E0-832A-8842B14C99A7}" srcOrd="0" destOrd="0" presId="urn:microsoft.com/office/officeart/2005/8/layout/process4"/>
    <dgm:cxn modelId="{F9E824AA-5505-4649-B908-CA8645E54454}" type="presParOf" srcId="{FC3FEE8A-0D70-41E0-832A-8842B14C99A7}" destId="{4205078D-D7A8-47DB-A860-296D062E2451}" srcOrd="0" destOrd="0" presId="urn:microsoft.com/office/officeart/2005/8/layout/process4"/>
    <dgm:cxn modelId="{3EBD1E3E-D40F-4D74-9224-C74945BB5FAA}" type="presParOf" srcId="{4205078D-D7A8-47DB-A860-296D062E2451}" destId="{AABBD3D9-65E9-46F2-89A1-C8E19436C28C}" srcOrd="0" destOrd="0" presId="urn:microsoft.com/office/officeart/2005/8/layout/process4"/>
    <dgm:cxn modelId="{97F5AED6-E71B-41F2-9B33-1FDC4BB3EE7E}" type="presParOf" srcId="{4205078D-D7A8-47DB-A860-296D062E2451}" destId="{A404C892-8DE5-4238-8003-98512A16067C}" srcOrd="1" destOrd="0" presId="urn:microsoft.com/office/officeart/2005/8/layout/process4"/>
    <dgm:cxn modelId="{4386F3AC-B9A4-4D33-97CE-89645EB36CC9}" type="presParOf" srcId="{4205078D-D7A8-47DB-A860-296D062E2451}" destId="{2FFB99E8-2338-4B6B-A619-30F5A33FDCB9}" srcOrd="2" destOrd="0" presId="urn:microsoft.com/office/officeart/2005/8/layout/process4"/>
    <dgm:cxn modelId="{E9D3D20D-3401-4462-A4FE-CAAD9AF4C66C}" type="presParOf" srcId="{2FFB99E8-2338-4B6B-A619-30F5A33FDCB9}" destId="{9C65D3B8-8243-44EB-86AC-9ACD53843473}" srcOrd="0" destOrd="0" presId="urn:microsoft.com/office/officeart/2005/8/layout/process4"/>
    <dgm:cxn modelId="{981F2BDA-BF92-4E41-82C8-11242E2AA0D7}" type="presParOf" srcId="{2FFB99E8-2338-4B6B-A619-30F5A33FDCB9}" destId="{842FFBEF-02EE-4BA7-91DE-D3D01416A922}" srcOrd="1" destOrd="0" presId="urn:microsoft.com/office/officeart/2005/8/layout/process4"/>
    <dgm:cxn modelId="{E6F82301-3A2B-4AF9-ADEC-E39B5C56C5A2}" type="presParOf" srcId="{2FFB99E8-2338-4B6B-A619-30F5A33FDCB9}" destId="{A3BA73F9-C53C-4B8A-A75F-D67912C69EE4}" srcOrd="2" destOrd="0" presId="urn:microsoft.com/office/officeart/2005/8/layout/process4"/>
    <dgm:cxn modelId="{4E075B44-DE48-4D93-808D-B96E99D2F355}" type="presParOf" srcId="{2FFB99E8-2338-4B6B-A619-30F5A33FDCB9}" destId="{BC16727F-7FE8-4972-ABA6-D9D767979C2F}" srcOrd="3" destOrd="0" presId="urn:microsoft.com/office/officeart/2005/8/layout/process4"/>
    <dgm:cxn modelId="{4164DBAE-33CA-4842-9744-CFBE594FF895}" type="presParOf" srcId="{2FFB99E8-2338-4B6B-A619-30F5A33FDCB9}" destId="{F3D293FB-0E13-4976-A85A-D31E9DF46D4D}" srcOrd="4" destOrd="0" presId="urn:microsoft.com/office/officeart/2005/8/layout/process4"/>
    <dgm:cxn modelId="{0D92DC72-C4E3-4383-8821-155237958E11}" type="presParOf" srcId="{FC3FEE8A-0D70-41E0-832A-8842B14C99A7}" destId="{0E1ED91E-AC25-42D4-B558-A02BEEFCCB4D}" srcOrd="1" destOrd="0" presId="urn:microsoft.com/office/officeart/2005/8/layout/process4"/>
    <dgm:cxn modelId="{0A82F527-1260-4050-9B44-B20EA0B8D052}" type="presParOf" srcId="{FC3FEE8A-0D70-41E0-832A-8842B14C99A7}" destId="{7131BC9D-7714-4C7F-8C82-FFF4A69BCAD6}" srcOrd="2" destOrd="0" presId="urn:microsoft.com/office/officeart/2005/8/layout/process4"/>
    <dgm:cxn modelId="{2B24A874-548D-4845-BBEC-F0E2403EC116}" type="presParOf" srcId="{7131BC9D-7714-4C7F-8C82-FFF4A69BCAD6}" destId="{2E0C661C-6137-46AF-A56A-C98C04FC389A}" srcOrd="0" destOrd="0" presId="urn:microsoft.com/office/officeart/2005/8/layout/process4"/>
    <dgm:cxn modelId="{E5D5CEEE-2F20-44DD-816A-1FDCF420FA34}" type="presParOf" srcId="{7131BC9D-7714-4C7F-8C82-FFF4A69BCAD6}" destId="{F175E5E1-4739-4A10-9BA3-C5C505B6119D}" srcOrd="1" destOrd="0" presId="urn:microsoft.com/office/officeart/2005/8/layout/process4"/>
    <dgm:cxn modelId="{C07C5F47-42DD-4D33-B56F-55B874676A4A}" type="presParOf" srcId="{7131BC9D-7714-4C7F-8C82-FFF4A69BCAD6}" destId="{23BBB4F9-306F-40EF-A51F-C6F640947246}" srcOrd="2" destOrd="0" presId="urn:microsoft.com/office/officeart/2005/8/layout/process4"/>
    <dgm:cxn modelId="{B8601427-2159-4DE6-AD3A-A58A8A27510D}" type="presParOf" srcId="{23BBB4F9-306F-40EF-A51F-C6F640947246}" destId="{0F20894A-1ED1-46DD-8810-973BCDFAAC88}" srcOrd="0" destOrd="0" presId="urn:microsoft.com/office/officeart/2005/8/layout/process4"/>
    <dgm:cxn modelId="{705F57C8-203C-4AD5-8137-C2AEE875BBC2}" type="presParOf" srcId="{23BBB4F9-306F-40EF-A51F-C6F640947246}" destId="{8627404A-10C6-4E1C-9097-93BD15E11D0E}" srcOrd="1" destOrd="0" presId="urn:microsoft.com/office/officeart/2005/8/layout/process4"/>
    <dgm:cxn modelId="{FD33B32F-F9FA-4D2D-BAF3-53B7A49A2170}" type="presParOf" srcId="{23BBB4F9-306F-40EF-A51F-C6F640947246}" destId="{B3F30FF1-BEA0-45AD-A191-6FC3F165BF8D}" srcOrd="2" destOrd="0" presId="urn:microsoft.com/office/officeart/2005/8/layout/process4"/>
    <dgm:cxn modelId="{6B797B9E-E0DF-48D3-AF2B-602596B5FEB9}" type="presParOf" srcId="{23BBB4F9-306F-40EF-A51F-C6F640947246}" destId="{78F1006E-48E0-4F72-937D-ECA62F992E6F}" srcOrd="3" destOrd="0" presId="urn:microsoft.com/office/officeart/2005/8/layout/process4"/>
    <dgm:cxn modelId="{B65AF98C-E72F-4821-A1F5-9B7A6877B6CA}" type="presParOf" srcId="{FC3FEE8A-0D70-41E0-832A-8842B14C99A7}" destId="{07DC290D-3AE7-4A69-8648-61624E1134B0}" srcOrd="3" destOrd="0" presId="urn:microsoft.com/office/officeart/2005/8/layout/process4"/>
    <dgm:cxn modelId="{A1C1D2A1-C07F-4DD2-A76E-0E6E01A272BB}" type="presParOf" srcId="{FC3FEE8A-0D70-41E0-832A-8842B14C99A7}" destId="{0353AB6B-93D6-450D-8AF3-E4137E12585D}" srcOrd="4" destOrd="0" presId="urn:microsoft.com/office/officeart/2005/8/layout/process4"/>
    <dgm:cxn modelId="{7915ECDD-BD30-47F5-B595-D3BBD64473E0}" type="presParOf" srcId="{0353AB6B-93D6-450D-8AF3-E4137E12585D}" destId="{0A39DF28-94FB-4258-8913-E3F9848D7CC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6FCFFF-FF91-4537-A1C0-261F55FED141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C41842-978E-45E1-A636-F96F79DF8388}">
      <dgm:prSet/>
      <dgm:spPr/>
      <dgm:t>
        <a:bodyPr/>
        <a:lstStyle/>
        <a:p>
          <a:r>
            <a:rPr lang="hu-HU"/>
            <a:t>Tesztfájlok a komponensek mellett .spec.ts kiterjesztéssel, futtatás: ng test</a:t>
          </a:r>
          <a:endParaRPr lang="en-US"/>
        </a:p>
      </dgm:t>
    </dgm:pt>
    <dgm:pt modelId="{E5E081AE-B848-4E9E-8128-9E6AB22E4D96}" type="parTrans" cxnId="{6A900803-0758-4971-B2EA-B3F7024820A5}">
      <dgm:prSet/>
      <dgm:spPr/>
      <dgm:t>
        <a:bodyPr/>
        <a:lstStyle/>
        <a:p>
          <a:endParaRPr lang="en-US"/>
        </a:p>
      </dgm:t>
    </dgm:pt>
    <dgm:pt modelId="{1BF18D80-6358-4087-AD88-900BE292C0F5}" type="sibTrans" cxnId="{6A900803-0758-4971-B2EA-B3F7024820A5}">
      <dgm:prSet/>
      <dgm:spPr/>
      <dgm:t>
        <a:bodyPr/>
        <a:lstStyle/>
        <a:p>
          <a:endParaRPr lang="en-US"/>
        </a:p>
      </dgm:t>
    </dgm:pt>
    <dgm:pt modelId="{0756FEF7-96C4-42AE-8025-9488AAFC4C9A}">
      <dgm:prSet/>
      <dgm:spPr/>
      <dgm:t>
        <a:bodyPr/>
        <a:lstStyle/>
        <a:p>
          <a:r>
            <a:rPr lang="hu-HU"/>
            <a:t>app.component.spec.ts:</a:t>
          </a:r>
          <a:endParaRPr lang="en-US"/>
        </a:p>
      </dgm:t>
    </dgm:pt>
    <dgm:pt modelId="{95104563-3E39-4D1F-8D01-5B70A18351FB}" type="parTrans" cxnId="{DEAB7EC5-4735-41A3-9522-5FC1C05FA57F}">
      <dgm:prSet/>
      <dgm:spPr/>
      <dgm:t>
        <a:bodyPr/>
        <a:lstStyle/>
        <a:p>
          <a:endParaRPr lang="en-US"/>
        </a:p>
      </dgm:t>
    </dgm:pt>
    <dgm:pt modelId="{CFCA55A9-94FA-44B5-90F6-CCC476F7AD39}" type="sibTrans" cxnId="{DEAB7EC5-4735-41A3-9522-5FC1C05FA57F}">
      <dgm:prSet/>
      <dgm:spPr/>
      <dgm:t>
        <a:bodyPr/>
        <a:lstStyle/>
        <a:p>
          <a:endParaRPr lang="en-US"/>
        </a:p>
      </dgm:t>
    </dgm:pt>
    <dgm:pt modelId="{9BAD60C7-303D-482C-87F0-053950B132A8}">
      <dgm:prSet/>
      <dgm:spPr/>
      <dgm:t>
        <a:bodyPr/>
        <a:lstStyle/>
        <a:p>
          <a:r>
            <a:rPr lang="hu-HU"/>
            <a:t>Az alkalmazás sikeresen betöltődik</a:t>
          </a:r>
          <a:endParaRPr lang="en-US"/>
        </a:p>
      </dgm:t>
    </dgm:pt>
    <dgm:pt modelId="{8B9A918B-CD37-41B8-857E-F23F99B0FD30}" type="parTrans" cxnId="{2C083FC2-1D1F-409D-94C8-D656806D2059}">
      <dgm:prSet/>
      <dgm:spPr/>
      <dgm:t>
        <a:bodyPr/>
        <a:lstStyle/>
        <a:p>
          <a:endParaRPr lang="en-US"/>
        </a:p>
      </dgm:t>
    </dgm:pt>
    <dgm:pt modelId="{336AC07D-BB7E-4706-9C14-E376400CCFC5}" type="sibTrans" cxnId="{2C083FC2-1D1F-409D-94C8-D656806D2059}">
      <dgm:prSet/>
      <dgm:spPr/>
      <dgm:t>
        <a:bodyPr/>
        <a:lstStyle/>
        <a:p>
          <a:endParaRPr lang="en-US"/>
        </a:p>
      </dgm:t>
    </dgm:pt>
    <dgm:pt modelId="{1C6C290C-B9C1-4F13-A293-4101A662C3D2}">
      <dgm:prSet/>
      <dgm:spPr/>
      <dgm:t>
        <a:bodyPr/>
        <a:lstStyle/>
        <a:p>
          <a:r>
            <a:rPr lang="hu-HU"/>
            <a:t>dashboard.component.spec.ts:</a:t>
          </a:r>
          <a:endParaRPr lang="en-US"/>
        </a:p>
      </dgm:t>
    </dgm:pt>
    <dgm:pt modelId="{33B25743-23AF-4DE9-A39C-414C766DE6A0}" type="parTrans" cxnId="{D4E8EC67-7DC8-40D6-A5E0-8488E3B196E1}">
      <dgm:prSet/>
      <dgm:spPr/>
      <dgm:t>
        <a:bodyPr/>
        <a:lstStyle/>
        <a:p>
          <a:endParaRPr lang="en-US"/>
        </a:p>
      </dgm:t>
    </dgm:pt>
    <dgm:pt modelId="{0BC35E36-4B42-4FFC-B402-3D28A7E74362}" type="sibTrans" cxnId="{D4E8EC67-7DC8-40D6-A5E0-8488E3B196E1}">
      <dgm:prSet/>
      <dgm:spPr/>
      <dgm:t>
        <a:bodyPr/>
        <a:lstStyle/>
        <a:p>
          <a:endParaRPr lang="en-US"/>
        </a:p>
      </dgm:t>
    </dgm:pt>
    <dgm:pt modelId="{29C50C4D-344C-492D-9855-1A8F23A48FCE}">
      <dgm:prSet/>
      <dgm:spPr/>
      <dgm:t>
        <a:bodyPr/>
        <a:lstStyle/>
        <a:p>
          <a:r>
            <a:rPr lang="hu-HU"/>
            <a:t>Kezdeti állapot ellenőrzése</a:t>
          </a:r>
          <a:endParaRPr lang="en-US"/>
        </a:p>
      </dgm:t>
    </dgm:pt>
    <dgm:pt modelId="{D44CEE70-8CA8-4279-A0FB-A356B4711770}" type="parTrans" cxnId="{A1D9E881-96F2-4B9B-9497-5C9BEA650C01}">
      <dgm:prSet/>
      <dgm:spPr/>
      <dgm:t>
        <a:bodyPr/>
        <a:lstStyle/>
        <a:p>
          <a:endParaRPr lang="en-US"/>
        </a:p>
      </dgm:t>
    </dgm:pt>
    <dgm:pt modelId="{A82909CF-D873-4781-AB10-2FB9C8BD7A29}" type="sibTrans" cxnId="{A1D9E881-96F2-4B9B-9497-5C9BEA650C01}">
      <dgm:prSet/>
      <dgm:spPr/>
      <dgm:t>
        <a:bodyPr/>
        <a:lstStyle/>
        <a:p>
          <a:endParaRPr lang="en-US"/>
        </a:p>
      </dgm:t>
    </dgm:pt>
    <dgm:pt modelId="{50B0AC65-AD34-4AFD-878C-9F5B4EB00294}">
      <dgm:prSet/>
      <dgm:spPr/>
      <dgm:t>
        <a:bodyPr/>
        <a:lstStyle/>
        <a:p>
          <a:r>
            <a:rPr lang="hu-HU"/>
            <a:t>Bérlési modal megnyitása</a:t>
          </a:r>
          <a:endParaRPr lang="en-US"/>
        </a:p>
      </dgm:t>
    </dgm:pt>
    <dgm:pt modelId="{755D7D1A-94D2-4528-8DF0-B6D1684CC386}" type="parTrans" cxnId="{F37C7051-A1BC-40C8-8FF9-C58B746EB7A2}">
      <dgm:prSet/>
      <dgm:spPr/>
      <dgm:t>
        <a:bodyPr/>
        <a:lstStyle/>
        <a:p>
          <a:endParaRPr lang="en-US"/>
        </a:p>
      </dgm:t>
    </dgm:pt>
    <dgm:pt modelId="{9D386CBC-DDBA-48F9-9235-A173507D207E}" type="sibTrans" cxnId="{F37C7051-A1BC-40C8-8FF9-C58B746EB7A2}">
      <dgm:prSet/>
      <dgm:spPr/>
      <dgm:t>
        <a:bodyPr/>
        <a:lstStyle/>
        <a:p>
          <a:endParaRPr lang="en-US"/>
        </a:p>
      </dgm:t>
    </dgm:pt>
    <dgm:pt modelId="{C46F928D-2E30-44CA-8899-F72A27BB2A93}">
      <dgm:prSet/>
      <dgm:spPr/>
      <dgm:t>
        <a:bodyPr/>
        <a:lstStyle/>
        <a:p>
          <a:r>
            <a:rPr lang="hu-HU"/>
            <a:t>admin.component.spec.ts:</a:t>
          </a:r>
          <a:endParaRPr lang="en-US"/>
        </a:p>
      </dgm:t>
    </dgm:pt>
    <dgm:pt modelId="{E65BABA3-9501-4FCF-AEEB-0732C454B592}" type="parTrans" cxnId="{412A35E1-2A2A-4BFE-82CD-D2F6608CD9D1}">
      <dgm:prSet/>
      <dgm:spPr/>
      <dgm:t>
        <a:bodyPr/>
        <a:lstStyle/>
        <a:p>
          <a:endParaRPr lang="en-US"/>
        </a:p>
      </dgm:t>
    </dgm:pt>
    <dgm:pt modelId="{48D72A02-1B11-4A26-8DC3-B8B1D9BB8425}" type="sibTrans" cxnId="{412A35E1-2A2A-4BFE-82CD-D2F6608CD9D1}">
      <dgm:prSet/>
      <dgm:spPr/>
      <dgm:t>
        <a:bodyPr/>
        <a:lstStyle/>
        <a:p>
          <a:endParaRPr lang="en-US"/>
        </a:p>
      </dgm:t>
    </dgm:pt>
    <dgm:pt modelId="{4842A2AE-5280-40BF-BA93-255F5987C0A6}">
      <dgm:prSet/>
      <dgm:spPr/>
      <dgm:t>
        <a:bodyPr/>
        <a:lstStyle/>
        <a:p>
          <a:r>
            <a:rPr lang="hu-HU"/>
            <a:t>Admin bejelentkezési állapot</a:t>
          </a:r>
          <a:endParaRPr lang="en-US"/>
        </a:p>
      </dgm:t>
    </dgm:pt>
    <dgm:pt modelId="{B68EF22B-74D1-4779-9CC9-7CF616EBA25E}" type="parTrans" cxnId="{E6146B59-EC12-48CC-9050-E31B8DA3CD7F}">
      <dgm:prSet/>
      <dgm:spPr/>
      <dgm:t>
        <a:bodyPr/>
        <a:lstStyle/>
        <a:p>
          <a:endParaRPr lang="en-US"/>
        </a:p>
      </dgm:t>
    </dgm:pt>
    <dgm:pt modelId="{0D4E68CE-47E7-4241-82E5-13B8B51CDAB8}" type="sibTrans" cxnId="{E6146B59-EC12-48CC-9050-E31B8DA3CD7F}">
      <dgm:prSet/>
      <dgm:spPr/>
      <dgm:t>
        <a:bodyPr/>
        <a:lstStyle/>
        <a:p>
          <a:endParaRPr lang="en-US"/>
        </a:p>
      </dgm:t>
    </dgm:pt>
    <dgm:pt modelId="{9DE4837F-8A1A-4856-93D8-E1DFE3790B7E}">
      <dgm:prSet/>
      <dgm:spPr/>
      <dgm:t>
        <a:bodyPr/>
        <a:lstStyle/>
        <a:p>
          <a:r>
            <a:rPr lang="hu-HU"/>
            <a:t>Tab váltás működése</a:t>
          </a:r>
          <a:endParaRPr lang="en-US"/>
        </a:p>
      </dgm:t>
    </dgm:pt>
    <dgm:pt modelId="{86CD108B-EC95-4832-9623-B729EB779F51}" type="parTrans" cxnId="{7FB1284F-32B9-43AD-B459-F96EF1BD72EE}">
      <dgm:prSet/>
      <dgm:spPr/>
      <dgm:t>
        <a:bodyPr/>
        <a:lstStyle/>
        <a:p>
          <a:endParaRPr lang="en-US"/>
        </a:p>
      </dgm:t>
    </dgm:pt>
    <dgm:pt modelId="{C6316ABE-65F2-4215-BE9F-C77ED1B670AF}" type="sibTrans" cxnId="{7FB1284F-32B9-43AD-B459-F96EF1BD72EE}">
      <dgm:prSet/>
      <dgm:spPr/>
      <dgm:t>
        <a:bodyPr/>
        <a:lstStyle/>
        <a:p>
          <a:endParaRPr lang="en-US"/>
        </a:p>
      </dgm:t>
    </dgm:pt>
    <dgm:pt modelId="{F9A967CD-5470-41F1-9942-CE98E4D18DA9}">
      <dgm:prSet/>
      <dgm:spPr/>
      <dgm:t>
        <a:bodyPr/>
        <a:lstStyle/>
        <a:p>
          <a:r>
            <a:rPr lang="hu-HU"/>
            <a:t>Eredmény: 9/9 teszt sikeres</a:t>
          </a:r>
          <a:endParaRPr lang="en-US"/>
        </a:p>
      </dgm:t>
    </dgm:pt>
    <dgm:pt modelId="{1F771469-0A27-4E6A-8CC6-9FD468C901FA}" type="parTrans" cxnId="{88707AA6-AB5F-4D57-8916-505F4365CABB}">
      <dgm:prSet/>
      <dgm:spPr/>
      <dgm:t>
        <a:bodyPr/>
        <a:lstStyle/>
        <a:p>
          <a:endParaRPr lang="en-US"/>
        </a:p>
      </dgm:t>
    </dgm:pt>
    <dgm:pt modelId="{E8C3A09A-70B3-4979-833E-51A055552195}" type="sibTrans" cxnId="{88707AA6-AB5F-4D57-8916-505F4365CABB}">
      <dgm:prSet/>
      <dgm:spPr/>
      <dgm:t>
        <a:bodyPr/>
        <a:lstStyle/>
        <a:p>
          <a:endParaRPr lang="en-US"/>
        </a:p>
      </dgm:t>
    </dgm:pt>
    <dgm:pt modelId="{56EEE1CE-12F3-425D-B3BC-E87B17CB826B}" type="pres">
      <dgm:prSet presAssocID="{0E6FCFFF-FF91-4537-A1C0-261F55FED141}" presName="Name0" presStyleCnt="0">
        <dgm:presLayoutVars>
          <dgm:dir/>
          <dgm:animLvl val="lvl"/>
          <dgm:resizeHandles val="exact"/>
        </dgm:presLayoutVars>
      </dgm:prSet>
      <dgm:spPr/>
    </dgm:pt>
    <dgm:pt modelId="{3F6A26D3-8537-45F1-85D5-FBA90181780A}" type="pres">
      <dgm:prSet presAssocID="{F9A967CD-5470-41F1-9942-CE98E4D18DA9}" presName="boxAndChildren" presStyleCnt="0"/>
      <dgm:spPr/>
    </dgm:pt>
    <dgm:pt modelId="{9EC6E7ED-B832-4FF1-B9E4-9295498AA9E3}" type="pres">
      <dgm:prSet presAssocID="{F9A967CD-5470-41F1-9942-CE98E4D18DA9}" presName="parentTextBox" presStyleLbl="node1" presStyleIdx="0" presStyleCnt="2"/>
      <dgm:spPr/>
    </dgm:pt>
    <dgm:pt modelId="{7F0979A3-0D9A-4D46-AE08-E65D6E7F7426}" type="pres">
      <dgm:prSet presAssocID="{1BF18D80-6358-4087-AD88-900BE292C0F5}" presName="sp" presStyleCnt="0"/>
      <dgm:spPr/>
    </dgm:pt>
    <dgm:pt modelId="{4B662D95-28A0-4C9D-9040-554DE0830C8C}" type="pres">
      <dgm:prSet presAssocID="{93C41842-978E-45E1-A636-F96F79DF8388}" presName="arrowAndChildren" presStyleCnt="0"/>
      <dgm:spPr/>
    </dgm:pt>
    <dgm:pt modelId="{7A11E509-7B0B-4870-9B54-2DBAE87316F6}" type="pres">
      <dgm:prSet presAssocID="{93C41842-978E-45E1-A636-F96F79DF8388}" presName="parentTextArrow" presStyleLbl="node1" presStyleIdx="0" presStyleCnt="2"/>
      <dgm:spPr/>
    </dgm:pt>
    <dgm:pt modelId="{BBB6E40E-199B-4769-B06F-1D46C50408FA}" type="pres">
      <dgm:prSet presAssocID="{93C41842-978E-45E1-A636-F96F79DF8388}" presName="arrow" presStyleLbl="node1" presStyleIdx="1" presStyleCnt="2"/>
      <dgm:spPr/>
    </dgm:pt>
    <dgm:pt modelId="{C5E1D488-F436-4241-A960-A9B2746B3ADF}" type="pres">
      <dgm:prSet presAssocID="{93C41842-978E-45E1-A636-F96F79DF8388}" presName="descendantArrow" presStyleCnt="0"/>
      <dgm:spPr/>
    </dgm:pt>
    <dgm:pt modelId="{7EEC7F70-47F3-45BB-BBE2-A8DF1B9C00B6}" type="pres">
      <dgm:prSet presAssocID="{0756FEF7-96C4-42AE-8025-9488AAFC4C9A}" presName="childTextArrow" presStyleLbl="fgAccFollowNode1" presStyleIdx="0" presStyleCnt="3">
        <dgm:presLayoutVars>
          <dgm:bulletEnabled val="1"/>
        </dgm:presLayoutVars>
      </dgm:prSet>
      <dgm:spPr/>
    </dgm:pt>
    <dgm:pt modelId="{BE2D3C56-E10C-4A2A-9607-AD1A424A3125}" type="pres">
      <dgm:prSet presAssocID="{1C6C290C-B9C1-4F13-A293-4101A662C3D2}" presName="childTextArrow" presStyleLbl="fgAccFollowNode1" presStyleIdx="1" presStyleCnt="3">
        <dgm:presLayoutVars>
          <dgm:bulletEnabled val="1"/>
        </dgm:presLayoutVars>
      </dgm:prSet>
      <dgm:spPr/>
    </dgm:pt>
    <dgm:pt modelId="{EC6FDD18-FA5A-4EC3-B534-75DDE6B6154B}" type="pres">
      <dgm:prSet presAssocID="{C46F928D-2E30-44CA-8899-F72A27BB2A93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6A900803-0758-4971-B2EA-B3F7024820A5}" srcId="{0E6FCFFF-FF91-4537-A1C0-261F55FED141}" destId="{93C41842-978E-45E1-A636-F96F79DF8388}" srcOrd="0" destOrd="0" parTransId="{E5E081AE-B848-4E9E-8128-9E6AB22E4D96}" sibTransId="{1BF18D80-6358-4087-AD88-900BE292C0F5}"/>
    <dgm:cxn modelId="{6333C810-CA33-4517-B7A2-0B6B57FAA005}" type="presOf" srcId="{93C41842-978E-45E1-A636-F96F79DF8388}" destId="{7A11E509-7B0B-4870-9B54-2DBAE87316F6}" srcOrd="0" destOrd="0" presId="urn:microsoft.com/office/officeart/2005/8/layout/process4"/>
    <dgm:cxn modelId="{5375F81A-2A28-4203-BFE6-CD2330518822}" type="presOf" srcId="{9BAD60C7-303D-482C-87F0-053950B132A8}" destId="{7EEC7F70-47F3-45BB-BBE2-A8DF1B9C00B6}" srcOrd="0" destOrd="1" presId="urn:microsoft.com/office/officeart/2005/8/layout/process4"/>
    <dgm:cxn modelId="{42964762-6A64-4B94-9D83-5EFDB1BCF2CA}" type="presOf" srcId="{0E6FCFFF-FF91-4537-A1C0-261F55FED141}" destId="{56EEE1CE-12F3-425D-B3BC-E87B17CB826B}" srcOrd="0" destOrd="0" presId="urn:microsoft.com/office/officeart/2005/8/layout/process4"/>
    <dgm:cxn modelId="{D4E8EC67-7DC8-40D6-A5E0-8488E3B196E1}" srcId="{93C41842-978E-45E1-A636-F96F79DF8388}" destId="{1C6C290C-B9C1-4F13-A293-4101A662C3D2}" srcOrd="1" destOrd="0" parTransId="{33B25743-23AF-4DE9-A39C-414C766DE6A0}" sibTransId="{0BC35E36-4B42-4FFC-B402-3D28A7E74362}"/>
    <dgm:cxn modelId="{7FB1284F-32B9-43AD-B459-F96EF1BD72EE}" srcId="{C46F928D-2E30-44CA-8899-F72A27BB2A93}" destId="{9DE4837F-8A1A-4856-93D8-E1DFE3790B7E}" srcOrd="1" destOrd="0" parTransId="{86CD108B-EC95-4832-9623-B729EB779F51}" sibTransId="{C6316ABE-65F2-4215-BE9F-C77ED1B670AF}"/>
    <dgm:cxn modelId="{F37C7051-A1BC-40C8-8FF9-C58B746EB7A2}" srcId="{1C6C290C-B9C1-4F13-A293-4101A662C3D2}" destId="{50B0AC65-AD34-4AFD-878C-9F5B4EB00294}" srcOrd="1" destOrd="0" parTransId="{755D7D1A-94D2-4528-8DF0-B6D1684CC386}" sibTransId="{9D386CBC-DDBA-48F9-9235-A173507D207E}"/>
    <dgm:cxn modelId="{4E2B9171-E3D5-493A-8B06-A8F727D9FDF5}" type="presOf" srcId="{0756FEF7-96C4-42AE-8025-9488AAFC4C9A}" destId="{7EEC7F70-47F3-45BB-BBE2-A8DF1B9C00B6}" srcOrd="0" destOrd="0" presId="urn:microsoft.com/office/officeart/2005/8/layout/process4"/>
    <dgm:cxn modelId="{E6146B59-EC12-48CC-9050-E31B8DA3CD7F}" srcId="{C46F928D-2E30-44CA-8899-F72A27BB2A93}" destId="{4842A2AE-5280-40BF-BA93-255F5987C0A6}" srcOrd="0" destOrd="0" parTransId="{B68EF22B-74D1-4779-9CC9-7CF616EBA25E}" sibTransId="{0D4E68CE-47E7-4241-82E5-13B8B51CDAB8}"/>
    <dgm:cxn modelId="{40CACC59-3BA6-4EB8-B261-EA19955ED62C}" type="presOf" srcId="{9DE4837F-8A1A-4856-93D8-E1DFE3790B7E}" destId="{EC6FDD18-FA5A-4EC3-B534-75DDE6B6154B}" srcOrd="0" destOrd="2" presId="urn:microsoft.com/office/officeart/2005/8/layout/process4"/>
    <dgm:cxn modelId="{A457A07A-689C-4FCD-B68D-955F62714F84}" type="presOf" srcId="{C46F928D-2E30-44CA-8899-F72A27BB2A93}" destId="{EC6FDD18-FA5A-4EC3-B534-75DDE6B6154B}" srcOrd="0" destOrd="0" presId="urn:microsoft.com/office/officeart/2005/8/layout/process4"/>
    <dgm:cxn modelId="{A1D9E881-96F2-4B9B-9497-5C9BEA650C01}" srcId="{1C6C290C-B9C1-4F13-A293-4101A662C3D2}" destId="{29C50C4D-344C-492D-9855-1A8F23A48FCE}" srcOrd="0" destOrd="0" parTransId="{D44CEE70-8CA8-4279-A0FB-A356B4711770}" sibTransId="{A82909CF-D873-4781-AB10-2FB9C8BD7A29}"/>
    <dgm:cxn modelId="{88707AA6-AB5F-4D57-8916-505F4365CABB}" srcId="{0E6FCFFF-FF91-4537-A1C0-261F55FED141}" destId="{F9A967CD-5470-41F1-9942-CE98E4D18DA9}" srcOrd="1" destOrd="0" parTransId="{1F771469-0A27-4E6A-8CC6-9FD468C901FA}" sibTransId="{E8C3A09A-70B3-4979-833E-51A055552195}"/>
    <dgm:cxn modelId="{5F8361B0-183F-4672-9963-54F3E91B52D5}" type="presOf" srcId="{1C6C290C-B9C1-4F13-A293-4101A662C3D2}" destId="{BE2D3C56-E10C-4A2A-9607-AD1A424A3125}" srcOrd="0" destOrd="0" presId="urn:microsoft.com/office/officeart/2005/8/layout/process4"/>
    <dgm:cxn modelId="{D746F1B7-2E4A-470A-B27C-1766D84D732E}" type="presOf" srcId="{4842A2AE-5280-40BF-BA93-255F5987C0A6}" destId="{EC6FDD18-FA5A-4EC3-B534-75DDE6B6154B}" srcOrd="0" destOrd="1" presId="urn:microsoft.com/office/officeart/2005/8/layout/process4"/>
    <dgm:cxn modelId="{F799FCBD-B3D0-490C-B697-CFBB4D548335}" type="presOf" srcId="{50B0AC65-AD34-4AFD-878C-9F5B4EB00294}" destId="{BE2D3C56-E10C-4A2A-9607-AD1A424A3125}" srcOrd="0" destOrd="2" presId="urn:microsoft.com/office/officeart/2005/8/layout/process4"/>
    <dgm:cxn modelId="{2C083FC2-1D1F-409D-94C8-D656806D2059}" srcId="{0756FEF7-96C4-42AE-8025-9488AAFC4C9A}" destId="{9BAD60C7-303D-482C-87F0-053950B132A8}" srcOrd="0" destOrd="0" parTransId="{8B9A918B-CD37-41B8-857E-F23F99B0FD30}" sibTransId="{336AC07D-BB7E-4706-9C14-E376400CCFC5}"/>
    <dgm:cxn modelId="{DEAB7EC5-4735-41A3-9522-5FC1C05FA57F}" srcId="{93C41842-978E-45E1-A636-F96F79DF8388}" destId="{0756FEF7-96C4-42AE-8025-9488AAFC4C9A}" srcOrd="0" destOrd="0" parTransId="{95104563-3E39-4D1F-8D01-5B70A18351FB}" sibTransId="{CFCA55A9-94FA-44B5-90F6-CCC476F7AD39}"/>
    <dgm:cxn modelId="{F11109D6-5EB5-416E-A099-6C1F58890D34}" type="presOf" srcId="{F9A967CD-5470-41F1-9942-CE98E4D18DA9}" destId="{9EC6E7ED-B832-4FF1-B9E4-9295498AA9E3}" srcOrd="0" destOrd="0" presId="urn:microsoft.com/office/officeart/2005/8/layout/process4"/>
    <dgm:cxn modelId="{412A35E1-2A2A-4BFE-82CD-D2F6608CD9D1}" srcId="{93C41842-978E-45E1-A636-F96F79DF8388}" destId="{C46F928D-2E30-44CA-8899-F72A27BB2A93}" srcOrd="2" destOrd="0" parTransId="{E65BABA3-9501-4FCF-AEEB-0732C454B592}" sibTransId="{48D72A02-1B11-4A26-8DC3-B8B1D9BB8425}"/>
    <dgm:cxn modelId="{AD21AAE5-3435-4A94-AC2F-953540654FCC}" type="presOf" srcId="{93C41842-978E-45E1-A636-F96F79DF8388}" destId="{BBB6E40E-199B-4769-B06F-1D46C50408FA}" srcOrd="1" destOrd="0" presId="urn:microsoft.com/office/officeart/2005/8/layout/process4"/>
    <dgm:cxn modelId="{3EB647F7-01F4-40CC-B1DC-D45B54B66926}" type="presOf" srcId="{29C50C4D-344C-492D-9855-1A8F23A48FCE}" destId="{BE2D3C56-E10C-4A2A-9607-AD1A424A3125}" srcOrd="0" destOrd="1" presId="urn:microsoft.com/office/officeart/2005/8/layout/process4"/>
    <dgm:cxn modelId="{DAA672D7-A4DE-4D66-BEE3-61AD7E3C0629}" type="presParOf" srcId="{56EEE1CE-12F3-425D-B3BC-E87B17CB826B}" destId="{3F6A26D3-8537-45F1-85D5-FBA90181780A}" srcOrd="0" destOrd="0" presId="urn:microsoft.com/office/officeart/2005/8/layout/process4"/>
    <dgm:cxn modelId="{88B9313E-E17C-40FB-83DA-40367E85AE7F}" type="presParOf" srcId="{3F6A26D3-8537-45F1-85D5-FBA90181780A}" destId="{9EC6E7ED-B832-4FF1-B9E4-9295498AA9E3}" srcOrd="0" destOrd="0" presId="urn:microsoft.com/office/officeart/2005/8/layout/process4"/>
    <dgm:cxn modelId="{B630C804-FCB6-47AF-851E-B5749A26BC72}" type="presParOf" srcId="{56EEE1CE-12F3-425D-B3BC-E87B17CB826B}" destId="{7F0979A3-0D9A-4D46-AE08-E65D6E7F7426}" srcOrd="1" destOrd="0" presId="urn:microsoft.com/office/officeart/2005/8/layout/process4"/>
    <dgm:cxn modelId="{AD0CBA3B-942A-4BA9-8B46-D85BDEB1F18F}" type="presParOf" srcId="{56EEE1CE-12F3-425D-B3BC-E87B17CB826B}" destId="{4B662D95-28A0-4C9D-9040-554DE0830C8C}" srcOrd="2" destOrd="0" presId="urn:microsoft.com/office/officeart/2005/8/layout/process4"/>
    <dgm:cxn modelId="{EFA6439E-DF8A-4C82-BD4E-FDB809344EF6}" type="presParOf" srcId="{4B662D95-28A0-4C9D-9040-554DE0830C8C}" destId="{7A11E509-7B0B-4870-9B54-2DBAE87316F6}" srcOrd="0" destOrd="0" presId="urn:microsoft.com/office/officeart/2005/8/layout/process4"/>
    <dgm:cxn modelId="{F7E2DCF5-3346-4B8E-B489-4B61E1B5BA47}" type="presParOf" srcId="{4B662D95-28A0-4C9D-9040-554DE0830C8C}" destId="{BBB6E40E-199B-4769-B06F-1D46C50408FA}" srcOrd="1" destOrd="0" presId="urn:microsoft.com/office/officeart/2005/8/layout/process4"/>
    <dgm:cxn modelId="{40C98C28-D951-48A0-B122-D36502F7C176}" type="presParOf" srcId="{4B662D95-28A0-4C9D-9040-554DE0830C8C}" destId="{C5E1D488-F436-4241-A960-A9B2746B3ADF}" srcOrd="2" destOrd="0" presId="urn:microsoft.com/office/officeart/2005/8/layout/process4"/>
    <dgm:cxn modelId="{C1802B51-B98E-4B5F-BD1A-6C7221B641BC}" type="presParOf" srcId="{C5E1D488-F436-4241-A960-A9B2746B3ADF}" destId="{7EEC7F70-47F3-45BB-BBE2-A8DF1B9C00B6}" srcOrd="0" destOrd="0" presId="urn:microsoft.com/office/officeart/2005/8/layout/process4"/>
    <dgm:cxn modelId="{C709292F-D270-48FE-9CB3-BDB9E7AA1B9B}" type="presParOf" srcId="{C5E1D488-F436-4241-A960-A9B2746B3ADF}" destId="{BE2D3C56-E10C-4A2A-9607-AD1A424A3125}" srcOrd="1" destOrd="0" presId="urn:microsoft.com/office/officeart/2005/8/layout/process4"/>
    <dgm:cxn modelId="{9B9849C9-6321-4424-ABB6-8235FA017F09}" type="presParOf" srcId="{C5E1D488-F436-4241-A960-A9B2746B3ADF}" destId="{EC6FDD18-FA5A-4EC3-B534-75DDE6B6154B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4C892-8DE5-4238-8003-98512A16067C}">
      <dsp:nvSpPr>
        <dsp:cNvPr id="0" name=""/>
        <dsp:cNvSpPr/>
      </dsp:nvSpPr>
      <dsp:spPr>
        <a:xfrm>
          <a:off x="0" y="3708300"/>
          <a:ext cx="7485718" cy="12171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cars.test.js:</a:t>
          </a:r>
          <a:endParaRPr lang="en-US" sz="2300" kern="1200"/>
        </a:p>
      </dsp:txBody>
      <dsp:txXfrm>
        <a:off x="0" y="3708300"/>
        <a:ext cx="7485718" cy="657259"/>
      </dsp:txXfrm>
    </dsp:sp>
    <dsp:sp modelId="{9C65D3B8-8243-44EB-86AC-9ACD53843473}">
      <dsp:nvSpPr>
        <dsp:cNvPr id="0" name=""/>
        <dsp:cNvSpPr/>
      </dsp:nvSpPr>
      <dsp:spPr>
        <a:xfrm>
          <a:off x="913" y="4341216"/>
          <a:ext cx="1496778" cy="5598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Kategória, ár, váltó, ülőhely szerinti szűrés</a:t>
          </a:r>
          <a:endParaRPr lang="en-US" sz="1200" kern="1200"/>
        </a:p>
      </dsp:txBody>
      <dsp:txXfrm>
        <a:off x="913" y="4341216"/>
        <a:ext cx="1496778" cy="559887"/>
      </dsp:txXfrm>
    </dsp:sp>
    <dsp:sp modelId="{842FFBEF-02EE-4BA7-91DE-D3D01416A922}">
      <dsp:nvSpPr>
        <dsp:cNvPr id="0" name=""/>
        <dsp:cNvSpPr/>
      </dsp:nvSpPr>
      <dsp:spPr>
        <a:xfrm>
          <a:off x="1497691" y="4341216"/>
          <a:ext cx="1496778" cy="559887"/>
        </a:xfrm>
        <a:prstGeom prst="rect">
          <a:avLst/>
        </a:prstGeom>
        <a:solidFill>
          <a:schemeClr val="accent2">
            <a:tint val="40000"/>
            <a:alpha val="90000"/>
            <a:hueOff val="926860"/>
            <a:satOff val="-926"/>
            <a:lumOff val="42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26860"/>
              <a:satOff val="-926"/>
              <a:lumOff val="4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Bérlési napok számítása</a:t>
          </a:r>
          <a:endParaRPr lang="en-US" sz="1200" kern="1200"/>
        </a:p>
      </dsp:txBody>
      <dsp:txXfrm>
        <a:off x="1497691" y="4341216"/>
        <a:ext cx="1496778" cy="559887"/>
      </dsp:txXfrm>
    </dsp:sp>
    <dsp:sp modelId="{A3BA73F9-C53C-4B8A-A75F-D67912C69EE4}">
      <dsp:nvSpPr>
        <dsp:cNvPr id="0" name=""/>
        <dsp:cNvSpPr/>
      </dsp:nvSpPr>
      <dsp:spPr>
        <a:xfrm>
          <a:off x="2994469" y="4341216"/>
          <a:ext cx="1496778" cy="559887"/>
        </a:xfrm>
        <a:prstGeom prst="rect">
          <a:avLst/>
        </a:prstGeom>
        <a:solidFill>
          <a:schemeClr val="accent2">
            <a:tint val="40000"/>
            <a:alpha val="90000"/>
            <a:hueOff val="1853719"/>
            <a:satOff val="-1852"/>
            <a:lumOff val="85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853719"/>
              <a:satOff val="-1852"/>
              <a:lumOff val="8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Teljes ár számítása</a:t>
          </a:r>
          <a:endParaRPr lang="en-US" sz="1200" kern="1200"/>
        </a:p>
      </dsp:txBody>
      <dsp:txXfrm>
        <a:off x="2994469" y="4341216"/>
        <a:ext cx="1496778" cy="559887"/>
      </dsp:txXfrm>
    </dsp:sp>
    <dsp:sp modelId="{BC16727F-7FE8-4972-ABA6-D9D767979C2F}">
      <dsp:nvSpPr>
        <dsp:cNvPr id="0" name=""/>
        <dsp:cNvSpPr/>
      </dsp:nvSpPr>
      <dsp:spPr>
        <a:xfrm>
          <a:off x="4491248" y="4341216"/>
          <a:ext cx="1496778" cy="559887"/>
        </a:xfrm>
        <a:prstGeom prst="rect">
          <a:avLst/>
        </a:prstGeom>
        <a:solidFill>
          <a:schemeClr val="accent2">
            <a:tint val="40000"/>
            <a:alpha val="90000"/>
            <a:hueOff val="2780579"/>
            <a:satOff val="-2777"/>
            <a:lumOff val="128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780579"/>
              <a:satOff val="-2777"/>
              <a:lumOff val="1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Dátum validáció</a:t>
          </a:r>
          <a:endParaRPr lang="en-US" sz="1200" kern="1200"/>
        </a:p>
      </dsp:txBody>
      <dsp:txXfrm>
        <a:off x="4491248" y="4341216"/>
        <a:ext cx="1496778" cy="559887"/>
      </dsp:txXfrm>
    </dsp:sp>
    <dsp:sp modelId="{F3D293FB-0E13-4976-A85A-D31E9DF46D4D}">
      <dsp:nvSpPr>
        <dsp:cNvPr id="0" name=""/>
        <dsp:cNvSpPr/>
      </dsp:nvSpPr>
      <dsp:spPr>
        <a:xfrm>
          <a:off x="5988026" y="4341216"/>
          <a:ext cx="1496778" cy="559887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Eredmény: 15/15 teszt sikeres</a:t>
          </a:r>
          <a:br>
            <a:rPr lang="hu-HU" sz="1200" kern="1200"/>
          </a:br>
          <a:endParaRPr lang="en-US" sz="1200" kern="1200"/>
        </a:p>
      </dsp:txBody>
      <dsp:txXfrm>
        <a:off x="5988026" y="4341216"/>
        <a:ext cx="1496778" cy="559887"/>
      </dsp:txXfrm>
    </dsp:sp>
    <dsp:sp modelId="{F175E5E1-4739-4A10-9BA3-C5C505B6119D}">
      <dsp:nvSpPr>
        <dsp:cNvPr id="0" name=""/>
        <dsp:cNvSpPr/>
      </dsp:nvSpPr>
      <dsp:spPr>
        <a:xfrm rot="10800000">
          <a:off x="0" y="1854585"/>
          <a:ext cx="7485718" cy="1871971"/>
        </a:xfrm>
        <a:prstGeom prst="upArrowCallou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auth.test.js:</a:t>
          </a:r>
          <a:endParaRPr lang="en-US" sz="2300" kern="1200"/>
        </a:p>
      </dsp:txBody>
      <dsp:txXfrm rot="-10800000">
        <a:off x="0" y="1854585"/>
        <a:ext cx="7485718" cy="657062"/>
      </dsp:txXfrm>
    </dsp:sp>
    <dsp:sp modelId="{0F20894A-1ED1-46DD-8810-973BCDFAAC88}">
      <dsp:nvSpPr>
        <dsp:cNvPr id="0" name=""/>
        <dsp:cNvSpPr/>
      </dsp:nvSpPr>
      <dsp:spPr>
        <a:xfrm>
          <a:off x="0" y="2511647"/>
          <a:ext cx="1871429" cy="559719"/>
        </a:xfrm>
        <a:prstGeom prst="rect">
          <a:avLst/>
        </a:prstGeom>
        <a:solidFill>
          <a:schemeClr val="accent2">
            <a:tint val="40000"/>
            <a:alpha val="90000"/>
            <a:hueOff val="4634298"/>
            <a:satOff val="-4629"/>
            <a:lumOff val="213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634298"/>
              <a:satOff val="-4629"/>
              <a:lumOff val="2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Email formátum ellenőrzés</a:t>
          </a:r>
          <a:endParaRPr lang="en-US" sz="1200" kern="1200"/>
        </a:p>
      </dsp:txBody>
      <dsp:txXfrm>
        <a:off x="0" y="2511647"/>
        <a:ext cx="1871429" cy="559719"/>
      </dsp:txXfrm>
    </dsp:sp>
    <dsp:sp modelId="{8627404A-10C6-4E1C-9097-93BD15E11D0E}">
      <dsp:nvSpPr>
        <dsp:cNvPr id="0" name=""/>
        <dsp:cNvSpPr/>
      </dsp:nvSpPr>
      <dsp:spPr>
        <a:xfrm>
          <a:off x="1871429" y="2511647"/>
          <a:ext cx="1871429" cy="559719"/>
        </a:xfrm>
        <a:prstGeom prst="rect">
          <a:avLst/>
        </a:prstGeom>
        <a:solidFill>
          <a:schemeClr val="accent2">
            <a:tint val="40000"/>
            <a:alpha val="90000"/>
            <a:hueOff val="5561158"/>
            <a:satOff val="-5555"/>
            <a:lumOff val="25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561158"/>
              <a:satOff val="-5555"/>
              <a:lumOff val="25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Jelszó hossz validáció</a:t>
          </a:r>
          <a:endParaRPr lang="en-US" sz="1200" kern="1200"/>
        </a:p>
      </dsp:txBody>
      <dsp:txXfrm>
        <a:off x="1871429" y="2511647"/>
        <a:ext cx="1871429" cy="559719"/>
      </dsp:txXfrm>
    </dsp:sp>
    <dsp:sp modelId="{B3F30FF1-BEA0-45AD-A191-6FC3F165BF8D}">
      <dsp:nvSpPr>
        <dsp:cNvPr id="0" name=""/>
        <dsp:cNvSpPr/>
      </dsp:nvSpPr>
      <dsp:spPr>
        <a:xfrm>
          <a:off x="3742859" y="2511647"/>
          <a:ext cx="1871429" cy="559719"/>
        </a:xfrm>
        <a:prstGeom prst="rect">
          <a:avLst/>
        </a:prstGeom>
        <a:solidFill>
          <a:schemeClr val="accent2">
            <a:tint val="40000"/>
            <a:alpha val="90000"/>
            <a:hueOff val="6488017"/>
            <a:satOff val="-6480"/>
            <a:lumOff val="298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488017"/>
              <a:satOff val="-6480"/>
              <a:lumOff val="29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Verifikációs kód formátum (6 számjegy)</a:t>
          </a:r>
          <a:endParaRPr lang="en-US" sz="1200" kern="1200"/>
        </a:p>
      </dsp:txBody>
      <dsp:txXfrm>
        <a:off x="3742859" y="2511647"/>
        <a:ext cx="1871429" cy="559719"/>
      </dsp:txXfrm>
    </dsp:sp>
    <dsp:sp modelId="{78F1006E-48E0-4F72-937D-ECA62F992E6F}">
      <dsp:nvSpPr>
        <dsp:cNvPr id="0" name=""/>
        <dsp:cNvSpPr/>
      </dsp:nvSpPr>
      <dsp:spPr>
        <a:xfrm>
          <a:off x="5614288" y="2511647"/>
          <a:ext cx="1871429" cy="559719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Token generálás és visszafejtés</a:t>
          </a:r>
          <a:endParaRPr lang="en-US" sz="1200" kern="1200"/>
        </a:p>
      </dsp:txBody>
      <dsp:txXfrm>
        <a:off x="5614288" y="2511647"/>
        <a:ext cx="1871429" cy="559719"/>
      </dsp:txXfrm>
    </dsp:sp>
    <dsp:sp modelId="{0A39DF28-94FB-4258-8913-E3F9848D7CC1}">
      <dsp:nvSpPr>
        <dsp:cNvPr id="0" name=""/>
        <dsp:cNvSpPr/>
      </dsp:nvSpPr>
      <dsp:spPr>
        <a:xfrm rot="10800000">
          <a:off x="0" y="870"/>
          <a:ext cx="7485718" cy="1871971"/>
        </a:xfrm>
        <a:prstGeom prst="upArrowCallou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Tesztfájlok a tests/ mappában, futtatás: npm test</a:t>
          </a:r>
          <a:endParaRPr lang="en-US" sz="2300" kern="1200"/>
        </a:p>
      </dsp:txBody>
      <dsp:txXfrm rot="10800000">
        <a:off x="0" y="870"/>
        <a:ext cx="7485718" cy="12163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6E7ED-B832-4FF1-B9E4-9295498AA9E3}">
      <dsp:nvSpPr>
        <dsp:cNvPr id="0" name=""/>
        <dsp:cNvSpPr/>
      </dsp:nvSpPr>
      <dsp:spPr>
        <a:xfrm>
          <a:off x="0" y="2973293"/>
          <a:ext cx="7485718" cy="19508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500" kern="1200"/>
            <a:t>Eredmény: 9/9 teszt sikeres</a:t>
          </a:r>
          <a:endParaRPr lang="en-US" sz="2500" kern="1200"/>
        </a:p>
      </dsp:txBody>
      <dsp:txXfrm>
        <a:off x="0" y="2973293"/>
        <a:ext cx="7485718" cy="1950802"/>
      </dsp:txXfrm>
    </dsp:sp>
    <dsp:sp modelId="{BBB6E40E-199B-4769-B06F-1D46C50408FA}">
      <dsp:nvSpPr>
        <dsp:cNvPr id="0" name=""/>
        <dsp:cNvSpPr/>
      </dsp:nvSpPr>
      <dsp:spPr>
        <a:xfrm rot="10800000">
          <a:off x="0" y="2221"/>
          <a:ext cx="7485718" cy="300033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500" kern="1200"/>
            <a:t>Tesztfájlok a komponensek mellett .spec.ts kiterjesztéssel, futtatás: ng test</a:t>
          </a:r>
          <a:endParaRPr lang="en-US" sz="2500" kern="1200"/>
        </a:p>
      </dsp:txBody>
      <dsp:txXfrm rot="-10800000">
        <a:off x="0" y="2221"/>
        <a:ext cx="7485718" cy="1053117"/>
      </dsp:txXfrm>
    </dsp:sp>
    <dsp:sp modelId="{7EEC7F70-47F3-45BB-BBE2-A8DF1B9C00B6}">
      <dsp:nvSpPr>
        <dsp:cNvPr id="0" name=""/>
        <dsp:cNvSpPr/>
      </dsp:nvSpPr>
      <dsp:spPr>
        <a:xfrm>
          <a:off x="3655" y="1055338"/>
          <a:ext cx="2492802" cy="8971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app.component.spec.ts: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000" kern="1200"/>
            <a:t>Az alkalmazás sikeresen betöltődik</a:t>
          </a:r>
          <a:endParaRPr lang="en-US" sz="1000" kern="1200"/>
        </a:p>
      </dsp:txBody>
      <dsp:txXfrm>
        <a:off x="3655" y="1055338"/>
        <a:ext cx="2492802" cy="897100"/>
      </dsp:txXfrm>
    </dsp:sp>
    <dsp:sp modelId="{BE2D3C56-E10C-4A2A-9607-AD1A424A3125}">
      <dsp:nvSpPr>
        <dsp:cNvPr id="0" name=""/>
        <dsp:cNvSpPr/>
      </dsp:nvSpPr>
      <dsp:spPr>
        <a:xfrm>
          <a:off x="2496457" y="1055338"/>
          <a:ext cx="2492802" cy="8971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dashboard.component.spec.ts: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000" kern="1200"/>
            <a:t>Kezdeti állapot ellenőrzése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000" kern="1200"/>
            <a:t>Bérlési modal megnyitása</a:t>
          </a:r>
          <a:endParaRPr lang="en-US" sz="1000" kern="1200"/>
        </a:p>
      </dsp:txBody>
      <dsp:txXfrm>
        <a:off x="2496457" y="1055338"/>
        <a:ext cx="2492802" cy="897100"/>
      </dsp:txXfrm>
    </dsp:sp>
    <dsp:sp modelId="{EC6FDD18-FA5A-4EC3-B534-75DDE6B6154B}">
      <dsp:nvSpPr>
        <dsp:cNvPr id="0" name=""/>
        <dsp:cNvSpPr/>
      </dsp:nvSpPr>
      <dsp:spPr>
        <a:xfrm>
          <a:off x="4989260" y="1055338"/>
          <a:ext cx="2492802" cy="8971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admin.component.spec.ts: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000" kern="1200"/>
            <a:t>Admin bejelentkezési állapot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000" kern="1200"/>
            <a:t>Tab váltás működése</a:t>
          </a:r>
          <a:endParaRPr lang="en-US" sz="1000" kern="1200"/>
        </a:p>
      </dsp:txBody>
      <dsp:txXfrm>
        <a:off x="4989260" y="1055338"/>
        <a:ext cx="2492802" cy="897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FC27312A-3332-44B9-A1B7-78C8560419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D66FD4C-8396-4270-BE71-90722F543D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56236-BDB4-4AC2-BBEC-7F5B4C7C595B}" type="datetime1">
              <a:rPr lang="hu-HU" smtClean="0"/>
              <a:t>2026. 05. 17.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2107E20-7EBF-4EB5-986F-2CFAD9F76E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C155262-82B7-4420-B421-C69B8D6ED3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0A8A5-BA8F-4EEC-9EFD-55967B9501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5806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65B99-177C-4444-B758-14DBAECCCA4B}" type="datetime1">
              <a:rPr lang="hu-HU" smtClean="0"/>
              <a:pPr/>
              <a:t>2026. 05. 17.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37B95-DDC0-4787-B98A-FFECB2523399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17757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37B95-DDC0-4787-B98A-FFECB2523399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127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5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7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372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6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7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5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9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9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66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69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95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8" r:id="rId6"/>
    <p:sldLayoutId id="2147483662" r:id="rId7"/>
    <p:sldLayoutId id="2147483677" r:id="rId8"/>
    <p:sldLayoutId id="2147483676" r:id="rId9"/>
    <p:sldLayoutId id="2147483675" r:id="rId10"/>
    <p:sldLayoutId id="214748367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A képen szöveg, képernyőkép, Már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526231C-892A-DFAB-F112-B9C752EF98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45" b="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9" name="Rectangle 16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rtlCol="0" anchor="t">
            <a:normAutofit/>
          </a:bodyPr>
          <a:lstStyle/>
          <a:p>
            <a:r>
              <a:rPr lang="hu-H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CarGo</a:t>
            </a:r>
            <a:br>
              <a:rPr lang="hu-H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 bemutató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40387" y="5253051"/>
            <a:ext cx="8078531" cy="812923"/>
          </a:xfrm>
        </p:spPr>
        <p:txBody>
          <a:bodyPr rtlCol="0" anchor="t">
            <a:normAutofit/>
          </a:bodyPr>
          <a:lstStyle/>
          <a:p>
            <a:r>
              <a:rPr lang="hu-HU">
                <a:solidFill>
                  <a:srgbClr val="FFFFFF"/>
                </a:solidFill>
                <a:latin typeface="Times New Roman"/>
                <a:cs typeface="Times New Roman"/>
              </a:rPr>
              <a:t>Romsics ádám, KAstély Márk, lelesz Edgár</a:t>
            </a:r>
            <a:endParaRPr lang="hu-H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Connector 18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223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94DF2F4-49B6-7A8E-154D-759A6BA9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hu-HU" sz="3000">
                <a:latin typeface="Times New Roman"/>
                <a:ea typeface="Calibri"/>
                <a:cs typeface="Times New Roman"/>
              </a:rPr>
              <a:t>BEVEZETŐ - AZ ÖTLET ÉS A PROBLÉMA </a:t>
            </a:r>
            <a:endParaRPr lang="hu-HU" sz="300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6A1EFA-C7BC-D1B8-9D60-49652A246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Hagyományos autóbérlés: telefonálás, személyes egyeztetés, papírmunka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Modern megoldás: online platform, automatizált folyamatok, 24/7 elérhetőség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Mit old meg?</a:t>
            </a:r>
          </a:p>
          <a:p>
            <a:pPr marL="493395" lvl="1"/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✅ Ügyfelek online böngészhetnek és foglalhatnak</a:t>
            </a:r>
          </a:p>
          <a:p>
            <a:pPr marL="493395" lvl="1"/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✅ Automatikus email értesítések</a:t>
            </a:r>
          </a:p>
          <a:p>
            <a:pPr marL="493395" lvl="1"/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✅ Admin központi felületről mindent kezel</a:t>
            </a:r>
          </a:p>
          <a:p>
            <a:pPr marL="493395" lvl="1"/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✅ Átlátható árazás és foglalási rendszer</a:t>
            </a:r>
          </a:p>
          <a:p>
            <a:pPr marL="493395" lvl="1"/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✅ Nincs szükség telefonos egyeztetésre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endParaRPr lang="hu-HU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55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603CA5C-A6E0-FBC6-E10E-5CFD60D9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hu-HU">
                <a:highlight>
                  <a:srgbClr val="FFFFFF"/>
                </a:highlight>
                <a:latin typeface="Times New Roman"/>
                <a:cs typeface="Times New Roman"/>
              </a:rPr>
              <a:t> Kinek készült?</a:t>
            </a:r>
          </a:p>
        </p:txBody>
      </p:sp>
      <p:sp>
        <p:nvSpPr>
          <p:cNvPr id="23" name="Tartalom helye 2">
            <a:extLst>
              <a:ext uri="{FF2B5EF4-FFF2-40B4-BE49-F238E27FC236}">
                <a16:creationId xmlns:a16="http://schemas.microsoft.com/office/drawing/2014/main" id="{00558BBD-B957-C567-BA61-5CE675213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86" y="1010097"/>
            <a:ext cx="6141734" cy="53146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Ügyfelek: Autót bérelni kívánó magánszemélyek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Admin/Tulajdonos: Autóbérlő cég munkatársai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Üzleti cél: Költségcsökkentés, automatizálás, jobb ügyfélélmény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Üzleti előnyök:</a:t>
            </a:r>
          </a:p>
          <a:p>
            <a:endParaRPr lang="hu-HU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💰 Csökkenti az adminisztrációs költségeket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⏰ 24/7 online foglalás (több bevétel)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📊 Valós idejű statisztikák és riportok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📧 Automatikus kommunikáció</a:t>
            </a:r>
          </a:p>
          <a:p>
            <a:r>
              <a:rPr lang="hu-HU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🎯 Professzionális megjelenés</a:t>
            </a:r>
          </a:p>
          <a:p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1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02133B2-BFF2-AED1-CA97-1C3AF6BA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hu-HU" sz="3000">
                <a:latin typeface="Times New Roman"/>
                <a:ea typeface="Calibri"/>
                <a:cs typeface="Times New Roman"/>
              </a:rPr>
              <a:t> Rendszer Architektúra – A Nagy Kép</a:t>
            </a:r>
            <a:endParaRPr lang="hu-HU" sz="3000">
              <a:latin typeface="Times New Roman"/>
              <a:cs typeface="Times New Roman"/>
            </a:endParaRP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13A948A-ECDE-648D-7BA4-BDBE4681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hu-H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rendszer célja: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hu-H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Egy modern, több felületen használható informatikai rendszer bemutatása.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hu-H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felhasználók böngészőből, modern webes alkalmazásból vagy admin desktop alkalmazásból érhetik el a rendszert.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hu-H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rendszer központi része egy Backend API, amely feldolgozza a kéréseket.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hu-H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Az adatok egy MySQL adatbázisban kerülnek tárolásra.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hu-H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rendszer automatikus email értesítéseket is képes küldeni.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15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F9FE4DB-94D1-321A-7CB9-4D8E89D7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>
                <a:highlight>
                  <a:srgbClr val="FFFFFF"/>
                </a:highlight>
                <a:latin typeface="Times New Roman"/>
                <a:cs typeface="Times New Roman"/>
              </a:rPr>
              <a:t> Hogyan épül fel a rendszer?</a:t>
            </a:r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D59FA09B-57A1-10C1-6533-CAFF342DD348}"/>
              </a:ext>
            </a:extLst>
          </p:cNvPr>
          <p:cNvSpPr txBox="1"/>
          <p:nvPr/>
        </p:nvSpPr>
        <p:spPr>
          <a:xfrm>
            <a:off x="640080" y="2633236"/>
            <a:ext cx="5852160" cy="36646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rendszer felépítése több részből áll. A felhasználók háromféle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frontend felületen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keresztül érik el a rendszert: weboldalon, Angular alkalmazáson vagy egy desktop admin programon keresztül. Ezek a felületek a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Backend API-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kommunikálnak, amely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Node.js és Express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 kezeli a kéréseket és feldolgozza az adatokat. A backend az adatokat egy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MySQL adatbázisban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tárolja, valamint szükség esetén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email értesítéseket küld SMTP szerveren keresztül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0B1DFD2-A7E2-4059-0616-1F3AF1EBF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5" b="5448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0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10E017-2E14-514D-F0FF-278041CE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hu-HU" sz="3000">
                <a:latin typeface="Times New Roman"/>
                <a:ea typeface="Calibri"/>
                <a:cs typeface="Times New Roman"/>
              </a:rPr>
              <a:t> Háromrétegű</a:t>
            </a:r>
            <a:r>
              <a:rPr lang="hu-HU">
                <a:latin typeface="Times New Roman"/>
                <a:ea typeface="Calibri"/>
                <a:cs typeface="Times New Roman"/>
              </a:rPr>
              <a:t> </a:t>
            </a:r>
            <a:r>
              <a:rPr lang="hu-HU" sz="3000">
                <a:latin typeface="Times New Roman"/>
                <a:ea typeface="Calibri"/>
                <a:cs typeface="Times New Roman"/>
              </a:rPr>
              <a:t>architektúra</a:t>
            </a:r>
            <a:endParaRPr lang="hu-HU" sz="3000">
              <a:latin typeface="Times New Roman"/>
              <a:cs typeface="Times New Roman"/>
            </a:endParaRPr>
          </a:p>
        </p:txBody>
      </p:sp>
      <p:pic>
        <p:nvPicPr>
          <p:cNvPr id="4" name="Kép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E7687BDE-AB6E-7546-408E-A763A909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6287"/>
            <a:ext cx="5633646" cy="3760459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7EE0E3-471F-45CF-64A4-E019B787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•1</a:t>
            </a:r>
            <a:r>
              <a:rPr lang="hu-HU" sz="17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Megjelenítési réteg (Frontend) – a felhasználók által látott felület.</a:t>
            </a: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hu-HU" sz="17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 Üzleti logika réteg (Backend API) – itt történik az adatok feldolgozása.</a:t>
            </a: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hu-HU" sz="17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 Adat réteg (Adatbázis) – itt tárolódik minden információ.</a:t>
            </a: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hu-HU" sz="17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Ez a felépítés lehetővé teszi a rendszer könnyebb bővítését és karbantartását.</a:t>
            </a: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7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rétegek egymástól elkülönülnek, de szabványos kommunikációval kapcsolódnak</a:t>
            </a: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03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95A3623-8074-EDD7-BDCA-F91594B9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hu-HU">
                <a:latin typeface="Times New Roman"/>
                <a:ea typeface="+mj-lt"/>
                <a:cs typeface="Times New Roman"/>
              </a:rPr>
              <a:t> MI A BACKEND?</a:t>
            </a:r>
            <a:endParaRPr lang="hu-HU">
              <a:latin typeface="Times New Roman"/>
              <a:cs typeface="Times New Roman"/>
            </a:endParaRPr>
          </a:p>
        </p:txBody>
      </p:sp>
      <p:pic>
        <p:nvPicPr>
          <p:cNvPr id="4" name="Kép 3" descr="A képen szöveg, ruházat, személy, ember látható&#10;&#10;Lehet, hogy az AI által létrehozott tartalom helytelen.">
            <a:extLst>
              <a:ext uri="{FF2B5EF4-FFF2-40B4-BE49-F238E27FC236}">
                <a16:creationId xmlns:a16="http://schemas.microsoft.com/office/drawing/2014/main" id="{9902EFD6-5D7C-3716-2459-2A13F510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6287"/>
            <a:ext cx="5633646" cy="3760459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CA478D-CA30-CBD0-35DE-9C0F0FBAA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Backend = Szerver oldal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Ez az a része az alkalmazásnak, amit a felhasználó </a:t>
            </a: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nem lát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mégis minden működés itt történik.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Az alkalmazás </a:t>
            </a: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“agya” és “motorja”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ahol az adatok feldolgozása, logika és üzleti szabályok érvényesülnek.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Étterm-analógia: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Frontend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= Étterem (menü, asztalok, pincérek) → a felhasználó itt interakcióban van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Backend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= Konyha (ahol készül az étel) → itt történik a munka a háttérben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Adatbázis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= Hűtő / kamra (alapanyagok) → minden szükséges információ és adat itt tárolódik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24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2469E85-FB05-5A87-4553-B9BBD583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hu-HU" sz="3000">
                <a:latin typeface="Times New Roman"/>
                <a:cs typeface="Times New Roman"/>
              </a:rPr>
              <a:t>API VÉGPONTOK 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C3AF72-96E0-B100-E5DA-AF8EDBD0A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hu-HU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Mi az API? (Application Programming Interface)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Az </a:t>
            </a: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API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(Alkalmazásprogramozási felület) egy olyan eszköz, amely lehetővé teszi, hogy különböző szoftverek kommunikáljanak egymással. Olyan, mint egy </a:t>
            </a: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pincér az étteremben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Frontend (vendég)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– A felhasználó vagy alkalmazás kérést küld (pl. adat lekérése, új felhasználó létrehozása).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API (pincér)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– Átveszi a kérést, ellenőrzi és továbbítja a backend felé.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Backend (konyha)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– Feldolgozza a kérést, végrehajtja a műveleteket, pl. adatbázis lekérdezés vagy számítás.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API (pincér)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– Visszaküldi az eredményt a frontendnek, szabványos formátumban (pl. JSON vagy XML).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400" b="1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Miért hasznos az API?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Elválasztja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 frontend és a backend működését.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Biztonságos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adatátvitelt tesz lehetővé.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Újrafelhasználható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több alkalmazás is használhatja ugyanazt az API-t.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Skálázható és karbantartható</a:t>
            </a:r>
            <a:r>
              <a:rPr lang="hu-HU" sz="14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könnyen bővíthető és frissíthető</a:t>
            </a:r>
            <a:endParaRPr lang="hu-H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27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1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5B78E4E-49FE-27E0-914C-1DF14D14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>
                <a:latin typeface="Times New Roman"/>
                <a:cs typeface="Times New Roman"/>
              </a:rPr>
              <a:t>REST API – </a:t>
            </a:r>
            <a:r>
              <a:rPr lang="en-US" sz="3000" err="1">
                <a:latin typeface="Times New Roman"/>
                <a:cs typeface="Times New Roman"/>
              </a:rPr>
              <a:t>Szabványos</a:t>
            </a:r>
            <a:r>
              <a:rPr lang="en-US" sz="3000">
                <a:latin typeface="Times New Roman"/>
                <a:cs typeface="Times New Roman"/>
              </a:rPr>
              <a:t> </a:t>
            </a:r>
            <a:r>
              <a:rPr lang="en-US" sz="3000" err="1">
                <a:latin typeface="Times New Roman"/>
                <a:cs typeface="Times New Roman"/>
              </a:rPr>
              <a:t>kommunikáció</a:t>
            </a:r>
            <a:endParaRPr lang="en-US" sz="3000">
              <a:latin typeface="Times New Roman"/>
              <a:cs typeface="Times New Roman"/>
            </a:endParaRPr>
          </a:p>
        </p:txBody>
      </p:sp>
      <p:cxnSp>
        <p:nvCxnSpPr>
          <p:cNvPr id="43" name="Straight Connector 2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FE251340-9505-0FAA-EBF8-E3E6CDBB0BC3}"/>
              </a:ext>
            </a:extLst>
          </p:cNvPr>
          <p:cNvSpPr txBox="1"/>
          <p:nvPr/>
        </p:nvSpPr>
        <p:spPr>
          <a:xfrm>
            <a:off x="6998063" y="2537460"/>
            <a:ext cx="4659945" cy="37604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REST (Representational State Transfer) a leggyakrabban használt API-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stílus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 weben, amely szabványos HTTP metódusokat használ:</a:t>
            </a:r>
          </a:p>
        </p:txBody>
      </p:sp>
      <p:graphicFrame>
        <p:nvGraphicFramePr>
          <p:cNvPr id="10" name="Tartalom helye 9">
            <a:extLst>
              <a:ext uri="{FF2B5EF4-FFF2-40B4-BE49-F238E27FC236}">
                <a16:creationId xmlns:a16="http://schemas.microsoft.com/office/drawing/2014/main" id="{9F14AB23-5E60-31F4-F5B0-DF40B2A1CD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304117"/>
              </p:ext>
            </p:extLst>
          </p:nvPr>
        </p:nvGraphicFramePr>
        <p:xfrm>
          <a:off x="713232" y="2660346"/>
          <a:ext cx="5648194" cy="3514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723">
                  <a:extLst>
                    <a:ext uri="{9D8B030D-6E8A-4147-A177-3AD203B41FA5}">
                      <a16:colId xmlns:a16="http://schemas.microsoft.com/office/drawing/2014/main" val="1954389179"/>
                    </a:ext>
                  </a:extLst>
                </a:gridCol>
                <a:gridCol w="2208165">
                  <a:extLst>
                    <a:ext uri="{9D8B030D-6E8A-4147-A177-3AD203B41FA5}">
                      <a16:colId xmlns:a16="http://schemas.microsoft.com/office/drawing/2014/main" val="3340419907"/>
                    </a:ext>
                  </a:extLst>
                </a:gridCol>
                <a:gridCol w="2093306">
                  <a:extLst>
                    <a:ext uri="{9D8B030D-6E8A-4147-A177-3AD203B41FA5}">
                      <a16:colId xmlns:a16="http://schemas.microsoft.com/office/drawing/2014/main" val="3144859070"/>
                    </a:ext>
                  </a:extLst>
                </a:gridCol>
              </a:tblGrid>
              <a:tr h="764962">
                <a:tc>
                  <a:txBody>
                    <a:bodyPr/>
                    <a:lstStyle/>
                    <a:p>
                      <a:r>
                        <a:rPr lang="hu-HU" sz="2000"/>
                        <a:t>HTTP metódus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Mit csinál?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Példa</a:t>
                      </a:r>
                    </a:p>
                  </a:txBody>
                  <a:tcPr marL="103373" marR="103373" marT="51687" marB="51687"/>
                </a:tc>
                <a:extLst>
                  <a:ext uri="{0D108BD9-81ED-4DB2-BD59-A6C34878D82A}">
                    <a16:rowId xmlns:a16="http://schemas.microsoft.com/office/drawing/2014/main" val="205616071"/>
                  </a:ext>
                </a:extLst>
              </a:tr>
              <a:tr h="454842">
                <a:tc>
                  <a:txBody>
                    <a:bodyPr/>
                    <a:lstStyle/>
                    <a:p>
                      <a:r>
                        <a:rPr lang="hu-HU" sz="2000"/>
                        <a:t>GET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Adatok lekérése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Autók listázása</a:t>
                      </a:r>
                    </a:p>
                  </a:txBody>
                  <a:tcPr marL="103373" marR="103373" marT="51687" marB="51687"/>
                </a:tc>
                <a:extLst>
                  <a:ext uri="{0D108BD9-81ED-4DB2-BD59-A6C34878D82A}">
                    <a16:rowId xmlns:a16="http://schemas.microsoft.com/office/drawing/2014/main" val="3617067232"/>
                  </a:ext>
                </a:extLst>
              </a:tr>
              <a:tr h="764962">
                <a:tc>
                  <a:txBody>
                    <a:bodyPr/>
                    <a:lstStyle/>
                    <a:p>
                      <a:r>
                        <a:rPr lang="hu-HU" sz="2000"/>
                        <a:t>POST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Új adatok létrehozása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Új felhasználó regisztrációja</a:t>
                      </a:r>
                    </a:p>
                  </a:txBody>
                  <a:tcPr marL="103373" marR="103373" marT="51687" marB="51687"/>
                </a:tc>
                <a:extLst>
                  <a:ext uri="{0D108BD9-81ED-4DB2-BD59-A6C34878D82A}">
                    <a16:rowId xmlns:a16="http://schemas.microsoft.com/office/drawing/2014/main" val="194210111"/>
                  </a:ext>
                </a:extLst>
              </a:tr>
              <a:tr h="764962">
                <a:tc>
                  <a:txBody>
                    <a:bodyPr/>
                    <a:lstStyle/>
                    <a:p>
                      <a:r>
                        <a:rPr lang="hu-HU" sz="2000"/>
                        <a:t>PUT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Meglévő adat módosítása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Autó adatainak frissítésa</a:t>
                      </a:r>
                    </a:p>
                  </a:txBody>
                  <a:tcPr marL="103373" marR="103373" marT="51687" marB="51687"/>
                </a:tc>
                <a:extLst>
                  <a:ext uri="{0D108BD9-81ED-4DB2-BD59-A6C34878D82A}">
                    <a16:rowId xmlns:a16="http://schemas.microsoft.com/office/drawing/2014/main" val="2345804287"/>
                  </a:ext>
                </a:extLst>
              </a:tr>
              <a:tr h="764962">
                <a:tc>
                  <a:txBody>
                    <a:bodyPr/>
                    <a:lstStyle/>
                    <a:p>
                      <a:r>
                        <a:rPr lang="hu-HU" sz="2000"/>
                        <a:t>DELET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Adat törlés</a:t>
                      </a:r>
                    </a:p>
                  </a:txBody>
                  <a:tcPr marL="103373" marR="103373" marT="51687" marB="51687"/>
                </a:tc>
                <a:tc>
                  <a:txBody>
                    <a:bodyPr/>
                    <a:lstStyle/>
                    <a:p>
                      <a:r>
                        <a:rPr lang="hu-HU" sz="2000"/>
                        <a:t>Autó törlése az adatbázisból</a:t>
                      </a:r>
                    </a:p>
                  </a:txBody>
                  <a:tcPr marL="103373" marR="103373" marT="51687" marB="51687"/>
                </a:tc>
                <a:extLst>
                  <a:ext uri="{0D108BD9-81ED-4DB2-BD59-A6C34878D82A}">
                    <a16:rowId xmlns:a16="http://schemas.microsoft.com/office/drawing/2014/main" val="140802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35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E7A8C2-6463-4C6C-F099-4C28F1A5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77" y="1319815"/>
            <a:ext cx="10890929" cy="1097280"/>
          </a:xfrm>
        </p:spPr>
        <p:txBody>
          <a:bodyPr>
            <a:normAutofit/>
          </a:bodyPr>
          <a:lstStyle/>
          <a:p>
            <a:r>
              <a:rPr lang="hu-HU" sz="3000">
                <a:latin typeface="Times New Roman"/>
                <a:ea typeface="+mj-lt"/>
                <a:cs typeface="Times New Roman"/>
              </a:rPr>
              <a:t>Endpoint működése</a:t>
            </a:r>
            <a:endParaRPr lang="hu-HU" sz="3000">
              <a:latin typeface="Times New Roman"/>
              <a:cs typeface="Times New Roman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58F475-877C-DFB6-E456-E6A52806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05" y="2093413"/>
            <a:ext cx="3159956" cy="3258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hu-HU" sz="1300">
                <a:latin typeface="Times New Roman"/>
                <a:ea typeface="+mn-lt"/>
                <a:cs typeface="Times New Roman"/>
              </a:rPr>
              <a:t>Kliens kérés (POST /api/auth/register)</a:t>
            </a:r>
            <a:endParaRPr lang="hu-HU" sz="1300">
              <a:latin typeface="Times New Roman"/>
              <a:cs typeface="Times New Roman"/>
            </a:endParaRPr>
          </a:p>
          <a:p>
            <a:endParaRPr lang="hu-HU" sz="1300" dirty="0">
              <a:latin typeface="Times New Roman"/>
              <a:cs typeface="Times New Roman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DBA6F5D-0A7A-EE15-7BDC-F285FDA7D186}"/>
              </a:ext>
            </a:extLst>
          </p:cNvPr>
          <p:cNvSpPr txBox="1"/>
          <p:nvPr/>
        </p:nvSpPr>
        <p:spPr>
          <a:xfrm>
            <a:off x="5036679" y="1311865"/>
            <a:ext cx="2255951" cy="19409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Validáció (express-validator)</a:t>
            </a:r>
            <a:endParaRPr lang="hu-HU" sz="1300"/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 email ellenőrzé</a:t>
            </a:r>
            <a:r>
              <a:rPr lang="hu-HU" sz="1300">
                <a:latin typeface="Times New Roman"/>
                <a:ea typeface="+mn-lt"/>
                <a:cs typeface="Times New Roman"/>
              </a:rPr>
              <a:t>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 jelszó hossz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kötelező mezők</a:t>
            </a:r>
            <a:endParaRPr lang="hu-HU"/>
          </a:p>
          <a:p>
            <a:pPr algn="l"/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4C06D4-4AE8-D65E-5424-C8424D6DD86F}"/>
              </a:ext>
            </a:extLst>
          </p:cNvPr>
          <p:cNvSpPr txBox="1"/>
          <p:nvPr/>
        </p:nvSpPr>
        <p:spPr>
          <a:xfrm>
            <a:off x="8651003" y="1425944"/>
            <a:ext cx="2178152" cy="16571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ea typeface="+mn-lt"/>
                <a:cs typeface="Times New Roman"/>
              </a:rPr>
              <a:t>Email ellenőrzése adatbázisban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ea typeface="+mn-lt"/>
                <a:cs typeface="Times New Roman"/>
              </a:rPr>
              <a:t>SQL: SELECT * FROM users WHERE email = ?</a:t>
            </a:r>
          </a:p>
          <a:p>
            <a:pPr algn="l"/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B89C666-9D10-40AD-9B0A-E95A236E5DA5}"/>
              </a:ext>
            </a:extLst>
          </p:cNvPr>
          <p:cNvSpPr txBox="1"/>
          <p:nvPr/>
        </p:nvSpPr>
        <p:spPr>
          <a:xfrm>
            <a:off x="8439106" y="3911689"/>
            <a:ext cx="2612013" cy="9080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Jelszó hashelése bcrypt segítségével</a:t>
            </a:r>
            <a:endParaRPr lang="hu-HU" sz="1300"/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bcrypt.hash(password, 10)</a:t>
            </a:r>
            <a:endParaRPr lang="hu-HU" sz="130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0773579-AE1B-941C-97D6-A2B7D4A8811E}"/>
              </a:ext>
            </a:extLst>
          </p:cNvPr>
          <p:cNvSpPr txBox="1"/>
          <p:nvPr/>
        </p:nvSpPr>
        <p:spPr>
          <a:xfrm>
            <a:off x="5158205" y="3911212"/>
            <a:ext cx="2414176" cy="9080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Felhasználó mentése adatbázisba</a:t>
            </a:r>
            <a:endParaRPr lang="hu-HU" sz="1300"/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INSERT INTO users (...)</a:t>
            </a:r>
            <a:endParaRPr lang="hu-HU" sz="130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9F78A20-F830-0BB5-16F3-FA3F3D06A949}"/>
              </a:ext>
            </a:extLst>
          </p:cNvPr>
          <p:cNvSpPr txBox="1"/>
          <p:nvPr/>
        </p:nvSpPr>
        <p:spPr>
          <a:xfrm>
            <a:off x="1733816" y="3430593"/>
            <a:ext cx="2209892" cy="15777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Verifikációs email küldése</a:t>
            </a:r>
            <a:endParaRPr lang="hu-HU" sz="1300"/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JWT token generálás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email küldés</a:t>
            </a:r>
          </a:p>
          <a:p>
            <a:pPr algn="l"/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C2FFA5A-8457-8118-BE7F-13EB3EA7553A}"/>
              </a:ext>
            </a:extLst>
          </p:cNvPr>
          <p:cNvSpPr txBox="1"/>
          <p:nvPr/>
        </p:nvSpPr>
        <p:spPr>
          <a:xfrm>
            <a:off x="1835031" y="5754778"/>
            <a:ext cx="1956212" cy="9931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Válasz a kliensnek</a:t>
            </a:r>
            <a:endParaRPr lang="hu-HU" sz="1300"/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300">
                <a:latin typeface="Times New Roman"/>
                <a:cs typeface="Times New Roman"/>
              </a:rPr>
              <a:t>HTTP 201 Created</a:t>
            </a:r>
          </a:p>
          <a:p>
            <a:pPr algn="l"/>
            <a:endParaRPr lang="hu-HU" dirty="0"/>
          </a:p>
        </p:txBody>
      </p:sp>
      <p:sp>
        <p:nvSpPr>
          <p:cNvPr id="12" name="Nyíl: jobbra mutató 11">
            <a:extLst>
              <a:ext uri="{FF2B5EF4-FFF2-40B4-BE49-F238E27FC236}">
                <a16:creationId xmlns:a16="http://schemas.microsoft.com/office/drawing/2014/main" id="{128DB361-CE78-0796-6343-8264BA16101D}"/>
              </a:ext>
            </a:extLst>
          </p:cNvPr>
          <p:cNvSpPr/>
          <p:nvPr/>
        </p:nvSpPr>
        <p:spPr>
          <a:xfrm>
            <a:off x="4266108" y="2029223"/>
            <a:ext cx="518818" cy="451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3D289357-9B0D-FEF6-B937-B836654665C5}"/>
              </a:ext>
            </a:extLst>
          </p:cNvPr>
          <p:cNvSpPr/>
          <p:nvPr/>
        </p:nvSpPr>
        <p:spPr>
          <a:xfrm>
            <a:off x="7728400" y="2029223"/>
            <a:ext cx="518818" cy="451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Nyíl: jobbra mutató 13">
            <a:extLst>
              <a:ext uri="{FF2B5EF4-FFF2-40B4-BE49-F238E27FC236}">
                <a16:creationId xmlns:a16="http://schemas.microsoft.com/office/drawing/2014/main" id="{DF6B597C-3107-6D77-8507-3C2A54C891E4}"/>
              </a:ext>
            </a:extLst>
          </p:cNvPr>
          <p:cNvSpPr/>
          <p:nvPr/>
        </p:nvSpPr>
        <p:spPr>
          <a:xfrm rot="5400000">
            <a:off x="9489137" y="3257300"/>
            <a:ext cx="518818" cy="451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Nyíl: jobbra mutató 14">
            <a:extLst>
              <a:ext uri="{FF2B5EF4-FFF2-40B4-BE49-F238E27FC236}">
                <a16:creationId xmlns:a16="http://schemas.microsoft.com/office/drawing/2014/main" id="{586E39FC-21CE-1A6F-4F20-261836E02DE6}"/>
              </a:ext>
            </a:extLst>
          </p:cNvPr>
          <p:cNvSpPr/>
          <p:nvPr/>
        </p:nvSpPr>
        <p:spPr>
          <a:xfrm rot="10800000">
            <a:off x="7728399" y="4130271"/>
            <a:ext cx="518818" cy="451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hu-HU" dirty="0"/>
          </a:p>
        </p:txBody>
      </p:sp>
      <p:sp>
        <p:nvSpPr>
          <p:cNvPr id="16" name="Nyíl: jobbra mutató 15">
            <a:extLst>
              <a:ext uri="{FF2B5EF4-FFF2-40B4-BE49-F238E27FC236}">
                <a16:creationId xmlns:a16="http://schemas.microsoft.com/office/drawing/2014/main" id="{5A9B0026-456B-42AC-C7C1-24F69EEF7275}"/>
              </a:ext>
            </a:extLst>
          </p:cNvPr>
          <p:cNvSpPr/>
          <p:nvPr/>
        </p:nvSpPr>
        <p:spPr>
          <a:xfrm rot="10800000">
            <a:off x="4266108" y="4137669"/>
            <a:ext cx="518818" cy="451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Nyíl: jobbra mutató 16">
            <a:extLst>
              <a:ext uri="{FF2B5EF4-FFF2-40B4-BE49-F238E27FC236}">
                <a16:creationId xmlns:a16="http://schemas.microsoft.com/office/drawing/2014/main" id="{7445F76D-E970-3C53-329E-F4A90E3B94A9}"/>
              </a:ext>
            </a:extLst>
          </p:cNvPr>
          <p:cNvSpPr/>
          <p:nvPr/>
        </p:nvSpPr>
        <p:spPr>
          <a:xfrm rot="5400000">
            <a:off x="2557156" y="5180795"/>
            <a:ext cx="518818" cy="451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789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A8AD8E-C493-46A5-408C-DE526940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hu-HU" sz="3000">
                <a:latin typeface="Times New Roman"/>
                <a:cs typeface="Times New Roman"/>
              </a:rPr>
              <a:t>BACKEND FELÉPÍTÉS - MODULÁRIS STRUKTÚRA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CFB7BD1B-32F5-DD2F-D7D0-3978BDD0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37460"/>
            <a:ext cx="5633646" cy="3760459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5271D0-146A-7CA4-BC13-D38021F0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Ez a Node.js projekt moduláris struktúrában épül fel, ahol minden funkció külön fájlban található. </a:t>
            </a:r>
          </a:p>
          <a:p>
            <a:pPr>
              <a:lnSpc>
                <a:spcPct val="110000"/>
              </a:lnSpc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Ez a megközelítés lehetővé teszi, hogy a fejlesztés átlátható legyen, több fejlesztő dolgozhasson egyszerre, és az új funkciók könnyen integrálhatók legyenek. </a:t>
            </a:r>
          </a:p>
          <a:p>
            <a:pPr>
              <a:lnSpc>
                <a:spcPct val="110000"/>
              </a:lnSpc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 különálló modulok segítik a kód újrafelhasználhatóságát, a hibák gyorsabb lokalizálását és a rendszer egyszerű karbantartását.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0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77E3CD-7C0E-3CD2-D75C-3AEDEE77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6109089" cy="1097280"/>
          </a:xfrm>
        </p:spPr>
        <p:txBody>
          <a:bodyPr>
            <a:normAutofit/>
          </a:bodyPr>
          <a:lstStyle/>
          <a:p>
            <a:r>
              <a:rPr lang="hu-HU" sz="3000">
                <a:latin typeface="Times New Roman"/>
                <a:ea typeface="+mj-lt"/>
                <a:cs typeface="Times New Roman"/>
              </a:rPr>
              <a:t> BACKEND TECHNOLÓGIÁK</a:t>
            </a:r>
            <a:endParaRPr lang="hu-HU" sz="3000">
              <a:latin typeface="Times New Roman"/>
              <a:cs typeface="Times New Roman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67C510-7B06-213E-CFCC-28BEBE53C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6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Node.js – futtatókörnyezet</a:t>
            </a:r>
            <a:endParaRPr lang="hu-H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16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Node.js</a:t>
            </a:r>
            <a:r>
              <a:rPr lang="hu-HU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egy szerveroldali környezet, ami lehetővé teszi, hogy </a:t>
            </a:r>
            <a:r>
              <a:rPr lang="hu-HU" sz="16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JavaScriptet szerveren is futtassunk</a:t>
            </a:r>
            <a:r>
              <a:rPr lang="hu-HU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 Gyors, </a:t>
            </a:r>
            <a:r>
              <a:rPr lang="hu-HU" sz="16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event-driven</a:t>
            </a:r>
            <a:r>
              <a:rPr lang="hu-HU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működésű, így egyszerre sok kérést tud kezelni. Ideális </a:t>
            </a:r>
            <a:r>
              <a:rPr lang="hu-HU" sz="16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webes alkalmazások és API szerverek</a:t>
            </a:r>
            <a:r>
              <a:rPr lang="hu-HU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fejlesztésére, és az </a:t>
            </a:r>
            <a:r>
              <a:rPr lang="hu-HU" sz="16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npm</a:t>
            </a:r>
            <a:r>
              <a:rPr lang="hu-HU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segítségével rengeteg csomagot használhatunk gyors fejlesztéshez.</a:t>
            </a:r>
            <a:endParaRPr lang="hu-HU" sz="1600" b="1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JavaScript futtatása szerveren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Gyors és hatékony (event-driven működés)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Nagy közösség és sok csomag az npm-ben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hu-HU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Ideális API szerverek fejlesztéséhez</a:t>
            </a: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endParaRPr 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Kép 11" descr="A képen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6512BBF-FA4F-D1DB-C79D-588C490C7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3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D770C42-2F63-DBF8-FCD0-83BE11FD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Autofit/>
          </a:bodyPr>
          <a:lstStyle/>
          <a:p>
            <a:r>
              <a:rPr lang="hu-HU" sz="3000">
                <a:latin typeface="Times New Roman"/>
                <a:ea typeface="+mj-lt"/>
                <a:cs typeface="Times New Roman"/>
              </a:rPr>
              <a:t> Express.js – Egyszerű és rugalmas Node.js keretrendszer</a:t>
            </a:r>
            <a:endParaRPr lang="hu-HU" sz="3000">
              <a:latin typeface="Times New Roman"/>
              <a:cs typeface="Times New Roman"/>
            </a:endParaRPr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D8E2DD6D-E554-3EF9-0156-67F00628F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egy népszerű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Node.js keretrendszer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, amely leegyszerűsíti a szerveroldali alkalmazások fejlesztését. Minimalista felépítésű, ugyanakkor nagyon rugalmas, így könnyen bővíthető további funkciókkal.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Fő jellemzői: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Routing rendszer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lehetővé teszi, hogy különböző URL-</a:t>
            </a:r>
            <a:r>
              <a:rPr lang="en-US" sz="1700" err="1">
                <a:latin typeface="Times New Roman" panose="02020603050405020304" pitchFamily="18" charset="0"/>
                <a:cs typeface="Times New Roman" panose="02020603050405020304" pitchFamily="18" charset="0"/>
              </a:rPr>
              <a:t>ekhez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más-más logikát társítsunk.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Middleware rendszer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köztes rétegekkel kezelhetjük a kéréseket és válaszokat, például hitelesítést, naplózást vagy hibakezelést.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Gyors API fejlesztés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ideális RESTful API-k létrehozásához.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Integrálható más eszközökkel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: könnyen használható adatbázisokkal, biztonsági és validációs könyvtárakkal.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Összességében az Express.js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egyszerű, de erőteljes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, és az iparág egyik legelterjedtebb Node.js keretrendszere.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061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BAD189-0B7B-1EA3-40E0-185CFC0A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hu-HU" sz="3000">
                <a:latin typeface="Times New Roman"/>
                <a:cs typeface="Times New Roman"/>
              </a:rPr>
              <a:t>Egyéb eszközök és miért használtuk őket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261A57-0E42-1124-28AF-99F70478A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4673"/>
            <a:ext cx="10890929" cy="353624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endParaRPr lang="hu-HU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Egyéb fontos eszközök</a:t>
            </a:r>
            <a:r>
              <a:rPr lang="hu-HU" sz="1200">
                <a:latin typeface="Times New Roman"/>
                <a:ea typeface="+mn-lt"/>
                <a:cs typeface="Times New Roman"/>
              </a:rPr>
              <a:t>: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nodemailer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Lehetővé teszi a rendszer számára, hogy </a:t>
            </a:r>
            <a:r>
              <a:rPr lang="hu-HU" sz="1200" b="1">
                <a:latin typeface="Times New Roman"/>
                <a:ea typeface="+mn-lt"/>
                <a:cs typeface="Times New Roman"/>
              </a:rPr>
              <a:t>automatikus email értesítéseket küldjön</a:t>
            </a:r>
            <a:r>
              <a:rPr lang="hu-HU" sz="1200">
                <a:latin typeface="Times New Roman"/>
                <a:ea typeface="+mn-lt"/>
                <a:cs typeface="Times New Roman"/>
              </a:rPr>
              <a:t> (például regisztráció, jelszó visszaállítás) az SMTP protokoll segítségével.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multer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Segítségével </a:t>
            </a:r>
            <a:r>
              <a:rPr lang="hu-HU" sz="1200" b="1">
                <a:latin typeface="Times New Roman"/>
                <a:ea typeface="+mn-lt"/>
                <a:cs typeface="Times New Roman"/>
              </a:rPr>
              <a:t>fájlokat lehet feltölteni</a:t>
            </a:r>
            <a:r>
              <a:rPr lang="hu-HU" sz="1200">
                <a:latin typeface="Times New Roman"/>
                <a:ea typeface="+mn-lt"/>
                <a:cs typeface="Times New Roman"/>
              </a:rPr>
              <a:t>, például autóképeket vagy dokumentumokat a szerverre, miközben biztonságosan kezeli a fájlformátumokat és méreteket.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express-validator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Biztosítja, hogy a felhasználó által bevitt adatok megfeleljenek a </a:t>
            </a:r>
            <a:r>
              <a:rPr lang="hu-HU" sz="1200" b="1">
                <a:latin typeface="Times New Roman"/>
                <a:ea typeface="+mn-lt"/>
                <a:cs typeface="Times New Roman"/>
              </a:rPr>
              <a:t>megadott szabályoknak</a:t>
            </a:r>
            <a:r>
              <a:rPr lang="hu-HU" sz="1200">
                <a:latin typeface="Times New Roman"/>
                <a:ea typeface="+mn-lt"/>
                <a:cs typeface="Times New Roman"/>
              </a:rPr>
              <a:t>, például az email formátuma vagy a jelszó hossza.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express-session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Kezeli a </a:t>
            </a:r>
            <a:r>
              <a:rPr lang="hu-HU" sz="1200" b="1">
                <a:latin typeface="Times New Roman"/>
                <a:ea typeface="+mn-lt"/>
                <a:cs typeface="Times New Roman"/>
              </a:rPr>
              <a:t>felhasználói bejelentkezési sessionöket</a:t>
            </a:r>
            <a:r>
              <a:rPr lang="hu-HU" sz="1200">
                <a:latin typeface="Times New Roman"/>
                <a:ea typeface="+mn-lt"/>
                <a:cs typeface="Times New Roman"/>
              </a:rPr>
              <a:t>, így a felhasználók egyszer bejelentkezve hosszabb ideig hozzáférhetnek a rendszerhez anélkül, hogy újra azonosítaniuk kellene magukat.</a:t>
            </a:r>
          </a:p>
          <a:p>
            <a:pPr marL="264795" lvl="1" indent="0">
              <a:lnSpc>
                <a:spcPct val="110000"/>
              </a:lnSpc>
              <a:buNone/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Miért ezeket a technológiákat választottuk?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Iparági standardok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Ezek a megoldások széles körben elfogadottak és beváltak a webfejlesztésben.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Jól dokumentáltak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Könnyen megtanulhatók és használhatók a fejlesztők számára.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Nagy fejlesztői közösség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Sok segítség, példák és hibajavítás érhető el.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Bizonyítottan stabilak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Nagy terhelés alatt is megbízhatóan működnek.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r>
              <a:rPr lang="hu-HU" sz="1200" b="1">
                <a:latin typeface="Times New Roman"/>
                <a:ea typeface="+mn-lt"/>
                <a:cs typeface="Times New Roman"/>
              </a:rPr>
              <a:t>Ingyenes és nyílt forráskódúak</a:t>
            </a:r>
            <a:r>
              <a:rPr lang="hu-HU" sz="1200">
                <a:latin typeface="Times New Roman"/>
                <a:ea typeface="+mn-lt"/>
                <a:cs typeface="Times New Roman"/>
              </a:rPr>
              <a:t> – Nem igényelnek licencdíjat, és igény szerint testreszabhatók.</a:t>
            </a:r>
            <a:endParaRPr lang="hu-HU" sz="1200">
              <a:latin typeface="Times New Roman"/>
              <a:cs typeface="Times New Roman"/>
            </a:endParaRPr>
          </a:p>
          <a:p>
            <a:pPr marL="493395" lvl="1">
              <a:lnSpc>
                <a:spcPct val="110000"/>
              </a:lnSpc>
            </a:pP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8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88D697B-259C-446A-E6D8-65F8F244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hu-HU" sz="3000">
                <a:latin typeface="Times New Roman"/>
                <a:ea typeface="+mj-lt"/>
                <a:cs typeface="Times New Roman"/>
              </a:rPr>
              <a:t>12.Miért MySQL?</a:t>
            </a:r>
            <a:endParaRPr lang="hu-HU" sz="3000">
              <a:latin typeface="Times New Roman"/>
              <a:cs typeface="Times New Roman"/>
            </a:endParaRPr>
          </a:p>
        </p:txBody>
      </p:sp>
      <p:pic>
        <p:nvPicPr>
          <p:cNvPr id="4" name="Kép 3" descr="A képen embléma, Betűtípus, szöveg,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0D3632C8-F738-3B7B-1359-532B24F21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65" y="2095499"/>
            <a:ext cx="3125269" cy="3125269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DF41BF-ACE7-CD65-0B6F-533C9D5A6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 </a:t>
            </a:r>
            <a:r>
              <a:rPr lang="hu-HU" sz="13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MySQL</a:t>
            </a: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egy népszerű, nyílt forráskódú </a:t>
            </a:r>
            <a:r>
              <a:rPr lang="hu-HU" sz="13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relációs adatbázis-kezelő rendszer</a:t>
            </a: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amelyet a projektünkhöz választottunk.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cs typeface="Times New Roman" panose="02020603050405020304" pitchFamily="18" charset="0"/>
              </a:rPr>
              <a:t>Előnyök:</a:t>
            </a:r>
          </a:p>
          <a:p>
            <a:pPr>
              <a:lnSpc>
                <a:spcPct val="110000"/>
              </a:lnSpc>
            </a:pPr>
            <a:r>
              <a:rPr lang="hu-HU" sz="13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Relációs modell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Adatok táblákban tárolódnak, és kapcsolatok jönnek létre közöttük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Olyan, mint egy összetett Excel, de sokkal gyorsabb és hatékonyabb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3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Megbízhatóság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Széles körben használt ipari szinten, bankok és nagyvállalatok is alkalmazzák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3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Teljesítmény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Millió rekord gyors kezelése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Indexek, lekérdezések optimalizálása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3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Költséghatékony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Nyílt forráskódú, ingyenes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3395" lvl="1">
              <a:lnSpc>
                <a:spcPct val="110000"/>
              </a:lnSpc>
            </a:pPr>
            <a:r>
              <a:rPr lang="hu-HU" sz="13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Nagy közösségi támogatás, sok dokumentáció</a:t>
            </a: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683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C4EC393-9066-A562-2088-87059559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hu-HU" sz="3000">
                <a:latin typeface="Times New Roman"/>
                <a:ea typeface="+mj-lt"/>
                <a:cs typeface="Times New Roman"/>
              </a:rPr>
              <a:t>13. Rendszer alapjai – 4 tábla</a:t>
            </a:r>
            <a:endParaRPr lang="hu-HU" sz="3000">
              <a:latin typeface="Times New Roman"/>
              <a:cs typeface="Times New Roman"/>
            </a:endParaRPr>
          </a:p>
        </p:txBody>
      </p:sp>
      <p:pic>
        <p:nvPicPr>
          <p:cNvPr id="8" name="Kép 7" descr="A képen szöveg, képernyőkép, Betűtípus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B130BC91-2909-9141-F91D-9F673216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4" y="1488144"/>
            <a:ext cx="6360357" cy="4356844"/>
          </a:xfrm>
          <a:prstGeom prst="rect">
            <a:avLst/>
          </a:prstGeom>
        </p:spPr>
      </p:pic>
      <p:sp>
        <p:nvSpPr>
          <p:cNvPr id="7" name="Tartalom helye 6">
            <a:extLst>
              <a:ext uri="{FF2B5EF4-FFF2-40B4-BE49-F238E27FC236}">
                <a16:creationId xmlns:a16="http://schemas.microsoft.com/office/drawing/2014/main" id="{29BCD10F-0118-3353-F46E-B7ABD550A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 USERS (Felhasználók)</a:t>
            </a: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Név, email, titkosított jelszó, cím, regisztráció, email hitelesítés</a:t>
            </a: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Egyedi email, jelszó titkosítva</a:t>
            </a:r>
          </a:p>
          <a:p>
            <a:pPr>
              <a:lnSpc>
                <a:spcPct val="110000"/>
              </a:lnSpc>
            </a:pPr>
            <a:r>
              <a:rPr lang="hu-HU" sz="11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2. CARS (Autók)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Név, leírás, napi díj, kép, kategória, műszaki adatok, elérhetőség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Kategóriák: Gazdaságos, Kompakt, Középkategória, Luxus, SUV, Sports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3. RENTALS (Bérlések)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Ki bérelte, melyik autót, mikor, napok, ár, státusz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Kapcsolat: Users 1–N Rentals, Cars 1–N Rentals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4. MESSAGES (Üzenetek)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Feladó, email, üzenet, időpont, státusz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Indításkor a szerver: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Létrehozza az adatbázist és a táblákat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Feltölti 24 autóval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hu-HU" sz="11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Kész, azonnal használható</a:t>
            </a: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hu-HU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976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16B8A0-A967-9482-8A13-8D951852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69044"/>
            <a:ext cx="10890929" cy="13287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Projekt Struktúra</a:t>
            </a:r>
            <a:br>
              <a:rPr lang="hu-HU" b="0">
                <a:highlight>
                  <a:srgbClr val="FFFFFF"/>
                </a:highlight>
                <a:latin typeface="Aptos"/>
              </a:rPr>
            </a:br>
            <a:r>
              <a:rPr lang="hu-HU" b="0">
                <a:highlight>
                  <a:srgbClr val="FFFFFF"/>
                </a:highlight>
                <a:latin typeface="Aptos"/>
              </a:rPr>
              <a:t>Komponens Architektúra:</a:t>
            </a:r>
            <a:br>
              <a:rPr lang="hu-HU" b="0">
                <a:highlight>
                  <a:srgbClr val="FFFFFF"/>
                </a:highlight>
                <a:latin typeface="Aptos"/>
              </a:rPr>
            </a:br>
            <a:endParaRPr lang="hu-HU" b="0"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FC91CB-6018-5ADA-79F8-A8AEE34F7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src/app/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├── components/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├── home/          - Főoldal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├── cars/          - Autók listája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├── dashboard/     - Felhasználói panel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├── auth/          - Bejelentkezés/Regisztráció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├── rental-modal/  - Bérlési űrlap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└── shared/        - Közös komponensek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├── services/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│   └── api.service.ts - Backend kommunikáció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└── app.routes.ts      - Útvonal kezelés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600">
              <a:highlight>
                <a:srgbClr val="FFFFFF"/>
              </a:highlight>
              <a:latin typeface="Aptos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86D7A2C-AE9A-9B0B-E575-51F01D964CF1}"/>
              </a:ext>
            </a:extLst>
          </p:cNvPr>
          <p:cNvSpPr txBox="1"/>
          <p:nvPr/>
        </p:nvSpPr>
        <p:spPr>
          <a:xfrm>
            <a:off x="5911272" y="2496740"/>
            <a:ext cx="609599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Technológia:</a:t>
            </a:r>
          </a:p>
          <a:p>
            <a:endParaRPr lang="hu-HU" sz="1600">
              <a:highlight>
                <a:srgbClr val="FFFFFF"/>
              </a:highlight>
              <a:latin typeface="Aptos"/>
            </a:endParaRPr>
          </a:p>
          <a:p>
            <a:r>
              <a:rPr lang="hu-HU" sz="1600">
                <a:highlight>
                  <a:srgbClr val="FFFFFF"/>
                </a:highlight>
                <a:latin typeface="Aptos"/>
              </a:rPr>
              <a:t>Angular 17 (Google által fejlesztett framework)</a:t>
            </a:r>
          </a:p>
          <a:p>
            <a:r>
              <a:rPr lang="hu-HU" sz="1600">
                <a:highlight>
                  <a:srgbClr val="FFFFFF"/>
                </a:highlight>
                <a:latin typeface="Aptos"/>
              </a:rPr>
              <a:t>TypeScript (JavaScript + típusok)</a:t>
            </a:r>
          </a:p>
          <a:p>
            <a:r>
              <a:rPr lang="hu-HU" sz="1600">
                <a:highlight>
                  <a:srgbClr val="FFFFFF"/>
                </a:highlight>
                <a:latin typeface="Aptos"/>
              </a:rPr>
              <a:t>Component-based (újrafelhasználható komponensek)</a:t>
            </a:r>
          </a:p>
          <a:p>
            <a:r>
              <a:rPr lang="hu-HU" sz="1600">
                <a:highlight>
                  <a:srgbClr val="FFFFFF"/>
                </a:highlight>
                <a:latin typeface="Aptos"/>
              </a:rPr>
              <a:t>Single Page Application (SPA - egy oldal, dinamikus tartalom)</a:t>
            </a:r>
          </a:p>
          <a:p>
            <a:endParaRPr lang="hu-HU" sz="1600">
              <a:highlight>
                <a:srgbClr val="FFFFFF"/>
              </a:highlight>
              <a:latin typeface="Aptos"/>
            </a:endParaRPr>
          </a:p>
          <a:p>
            <a:endParaRPr lang="hu-HU" sz="1600">
              <a:highlight>
                <a:srgbClr val="FFFFFF"/>
              </a:highlight>
              <a:latin typeface="Aptos"/>
            </a:endParaRPr>
          </a:p>
          <a:p>
            <a:endParaRPr lang="hu-HU" sz="1600">
              <a:highlight>
                <a:srgbClr val="FFFFFF"/>
              </a:highlight>
              <a:latin typeface="Aptos"/>
            </a:endParaRPr>
          </a:p>
          <a:p>
            <a:endParaRPr lang="hu-HU" sz="1600"/>
          </a:p>
        </p:txBody>
      </p:sp>
    </p:spTree>
    <p:extLst>
      <p:ext uri="{BB962C8B-B14F-4D97-AF65-F5344CB8AC3E}">
        <p14:creationId xmlns:p14="http://schemas.microsoft.com/office/powerpoint/2010/main" val="3458091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260E01E-19F6-8628-8540-3EE5907D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300" b="0">
                <a:latin typeface="Aptos"/>
              </a:rPr>
              <a:t>Főbb Funkciók - 1. </a:t>
            </a:r>
            <a:r>
              <a:rPr lang="hu-HU" sz="2300" b="0">
                <a:highlight>
                  <a:srgbClr val="FFFFFF"/>
                </a:highlight>
                <a:latin typeface="Aptos"/>
              </a:rPr>
              <a:t>Felhasználói Fiók</a:t>
            </a:r>
            <a:br>
              <a:rPr lang="hu-HU" sz="2300" b="0">
                <a:highlight>
                  <a:srgbClr val="FFFFFF"/>
                </a:highlight>
                <a:latin typeface="Aptos"/>
              </a:rPr>
            </a:br>
            <a:endParaRPr lang="hu-HU" sz="2300" b="0"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81FDEF-AB61-97D5-9374-4E6B1730C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hu-HU">
                <a:highlight>
                  <a:srgbClr val="FFFFFF"/>
                </a:highlight>
                <a:latin typeface="Aptos"/>
              </a:rPr>
              <a:t>Regisztráció email verifikációval</a:t>
            </a:r>
          </a:p>
          <a:p>
            <a:r>
              <a:rPr lang="hu-HU">
                <a:highlight>
                  <a:srgbClr val="FFFFFF"/>
                </a:highlight>
                <a:latin typeface="Aptos"/>
              </a:rPr>
              <a:t>Biztonságos bejelentkezés</a:t>
            </a:r>
          </a:p>
          <a:p>
            <a:pPr marL="0" indent="0">
              <a:buNone/>
            </a:pPr>
            <a:br>
              <a:rPr lang="hu-HU">
                <a:highlight>
                  <a:srgbClr val="FFFFFF"/>
                </a:highlight>
                <a:latin typeface="Aptos"/>
              </a:rPr>
            </a:br>
            <a:endParaRPr lang="hu-HU">
              <a:highlight>
                <a:srgbClr val="FFFFFF"/>
              </a:highlight>
              <a:latin typeface="Aptos"/>
            </a:endParaRPr>
          </a:p>
          <a:p>
            <a:pPr marL="0" indent="0">
              <a:buNone/>
            </a:pPr>
            <a:r>
              <a:rPr lang="hu-HU">
                <a:highlight>
                  <a:srgbClr val="FFFFFF"/>
                </a:highlight>
                <a:latin typeface="Aptos"/>
              </a:rPr>
              <a:t>Fontos hogy csak regisztráció után lehet bérlést kezdeményezni!</a:t>
            </a:r>
            <a:br>
              <a:rPr lang="hu-HU">
                <a:highlight>
                  <a:srgbClr val="FFFFFF"/>
                </a:highlight>
                <a:latin typeface="Aptos"/>
              </a:rPr>
            </a:br>
            <a:br>
              <a:rPr lang="hu-HU">
                <a:highlight>
                  <a:srgbClr val="FFFFFF"/>
                </a:highlight>
                <a:latin typeface="Aptos"/>
              </a:rPr>
            </a:br>
            <a:endParaRPr lang="hu-HU">
              <a:highlight>
                <a:srgbClr val="FFFFFF"/>
              </a:highlight>
              <a:latin typeface="Aptos"/>
            </a:endParaRPr>
          </a:p>
        </p:txBody>
      </p:sp>
      <p:pic>
        <p:nvPicPr>
          <p:cNvPr id="5" name="Kép 4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0322D15D-AB95-E286-037F-6C77DEA6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8779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076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985FBB0-B072-AAFD-1159-FC4CF05B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2357" y="168205"/>
            <a:ext cx="2948648" cy="26178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hu-HU" sz="3600" b="0">
                <a:highlight>
                  <a:srgbClr val="FFFFFF"/>
                </a:highlight>
                <a:latin typeface="Aptos"/>
              </a:rPr>
              <a:t>Főbb Funkciók - 2. Autó Keresés és Szűrés</a:t>
            </a:r>
            <a:br>
              <a:rPr lang="hu-HU" sz="3600" b="0">
                <a:highlight>
                  <a:srgbClr val="FFFFFF"/>
                </a:highlight>
                <a:latin typeface="Aptos"/>
              </a:rPr>
            </a:br>
            <a:br>
              <a:rPr lang="hu-HU" sz="2300" b="0">
                <a:highlight>
                  <a:srgbClr val="FFFFFF"/>
                </a:highlight>
                <a:latin typeface="Aptos"/>
              </a:rPr>
            </a:br>
            <a:endParaRPr lang="hu-HU" sz="2300" b="0">
              <a:highlight>
                <a:srgbClr val="FFFFFF"/>
              </a:highlight>
              <a:latin typeface="Aptos"/>
            </a:endParaRPr>
          </a:p>
        </p:txBody>
      </p:sp>
      <p:pic>
        <p:nvPicPr>
          <p:cNvPr id="4" name="Kép 3" descr="A képen szöveg, jármű, Szárazföldi jármű, kerék látható&#10;&#10;Lehet, hogy az AI által létrehozott tartalom helytelen.">
            <a:extLst>
              <a:ext uri="{FF2B5EF4-FFF2-40B4-BE49-F238E27FC236}">
                <a16:creationId xmlns:a16="http://schemas.microsoft.com/office/drawing/2014/main" id="{015E7148-5657-A15F-CCD9-30358A66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54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CD5E73-54D1-A102-6AAC-8D80D4B38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Font typeface="Arial"/>
            </a:pPr>
            <a:r>
              <a:rPr lang="hu-HU" sz="1600">
                <a:highlight>
                  <a:srgbClr val="FFFFFF"/>
                </a:highlight>
                <a:latin typeface="Aptos"/>
              </a:rPr>
              <a:t>Keresési és szűrési lehetőségek</a:t>
            </a:r>
            <a:endParaRPr lang="hu-HU" sz="16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Kategória szerinti szűrés</a:t>
            </a:r>
            <a:endParaRPr lang="hu-HU" sz="16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Ár tartomány</a:t>
            </a:r>
            <a:endParaRPr lang="hu-HU" sz="16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Váltó típus (automata/manuális)</a:t>
            </a:r>
            <a:endParaRPr lang="hu-HU" sz="16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Üzemanyag típus</a:t>
            </a:r>
            <a:endParaRPr lang="hu-HU" sz="16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Ülések száma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400">
                <a:highlight>
                  <a:srgbClr val="FFFFFF"/>
                </a:highlight>
                <a:latin typeface="Aptos"/>
              </a:rPr>
            </a:br>
            <a:br>
              <a:rPr lang="hu-HU" sz="1400">
                <a:highlight>
                  <a:srgbClr val="FFFFFF"/>
                </a:highlight>
                <a:latin typeface="Aptos"/>
              </a:rPr>
            </a:br>
            <a:r>
              <a:rPr lang="hu-HU" sz="1400">
                <a:highlight>
                  <a:srgbClr val="FFFFFF"/>
                </a:highlight>
                <a:latin typeface="Aptos"/>
              </a:rPr>
              <a:t>     </a:t>
            </a:r>
            <a:endParaRPr lang="hu-HU" sz="1400"/>
          </a:p>
        </p:txBody>
      </p:sp>
    </p:spTree>
    <p:extLst>
      <p:ext uri="{BB962C8B-B14F-4D97-AF65-F5344CB8AC3E}">
        <p14:creationId xmlns:p14="http://schemas.microsoft.com/office/powerpoint/2010/main" val="2199623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8EE789-F0D1-BAAD-B989-703A471D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66447"/>
            <a:ext cx="6905083" cy="10972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3400">
                <a:highlight>
                  <a:srgbClr val="FFFFFF"/>
                </a:highlight>
                <a:latin typeface="Grandview Display"/>
              </a:rPr>
              <a:t>Főbb Funkciók - 3.</a:t>
            </a:r>
            <a:r>
              <a:rPr lang="hu-HU" b="0">
                <a:highlight>
                  <a:srgbClr val="FFFFFF"/>
                </a:highlight>
                <a:latin typeface="Aptos"/>
              </a:rPr>
              <a:t> Rental Modal - Bérlési Folyamat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177AD1-619C-B0FD-7E96-8CBCA6980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Autó kiválasztása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Dátumok megadása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Automatikus árkalkuláció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Személyes adatok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Visszaigazolás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Validációk: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Dátum ellenőrzés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Email formátum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Kötelező mezők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Minimum bérlési idő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600">
              <a:highlight>
                <a:srgbClr val="FFFFFF"/>
              </a:highlight>
              <a:latin typeface="Aptos"/>
            </a:endParaRPr>
          </a:p>
        </p:txBody>
      </p:sp>
      <p:pic>
        <p:nvPicPr>
          <p:cNvPr id="5" name="Kép 4" descr="A képen szöveg, elektronika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2F28062F-12D9-5232-6F21-59E554353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995" y="738554"/>
            <a:ext cx="3298812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93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8C9CB5-7D49-A2DF-9AA8-B9BEC89F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Home Komponens - Főoldal Funkciók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CD8E2F-F112-7313-DA45-B4E7F78BC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Üdvözlő szekció hero képpel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Szolgáltatások bemutatása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Népszerű autók megjelenítése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Kapcsolatfelvételi űrlap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Reszponzív navigáció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Technikai Megvalósítás:</a:t>
            </a:r>
          </a:p>
          <a:p>
            <a:pPr marL="1297940" lvl="4">
              <a:buFont typeface="Courier New" panose="020B0604020202020204" pitchFamily="34" charset="0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Standalone komponens</a:t>
            </a:r>
          </a:p>
          <a:p>
            <a:pPr marL="1297940" lvl="4">
              <a:buFont typeface="Courier New" panose="020B0604020202020204" pitchFamily="34" charset="0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Reavtive forms</a:t>
            </a:r>
          </a:p>
          <a:p>
            <a:pPr marL="1297940" lvl="4">
              <a:buFont typeface="Courier New" panose="020B0604020202020204" pitchFamily="34" charset="0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API integráció</a:t>
            </a:r>
          </a:p>
          <a:p>
            <a:pPr marL="1297940" lvl="4">
              <a:buFont typeface="Courier New" panose="020B0604020202020204" pitchFamily="34" charset="0"/>
              <a:buChar char="o"/>
            </a:pPr>
            <a:r>
              <a:rPr lang="hu-HU" sz="1600">
                <a:highlight>
                  <a:srgbClr val="FFFFFF"/>
                </a:highlight>
                <a:latin typeface="Aptos"/>
              </a:rPr>
              <a:t>Validáció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000">
              <a:highlight>
                <a:srgbClr val="FFFFFF"/>
              </a:highlight>
              <a:latin typeface="Aptos"/>
            </a:endParaRPr>
          </a:p>
        </p:txBody>
      </p:sp>
      <p:pic>
        <p:nvPicPr>
          <p:cNvPr id="4" name="Kép 3" descr="A képen szöveg, képernyőkép, Már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1C112F23-4467-4D7B-328C-AF043125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834" y="2476866"/>
            <a:ext cx="6304085" cy="402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6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826CB1-399E-8F1B-7E51-FA718FBD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Cars Komponens - Autók Listázása</a:t>
            </a:r>
            <a:br>
              <a:rPr lang="hu-HU" b="0">
                <a:highlight>
                  <a:srgbClr val="FFFFFF"/>
                </a:highlight>
                <a:latin typeface="Aptos"/>
              </a:rPr>
            </a:br>
            <a:endParaRPr lang="hu-HU" b="0"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96B4FE-80AA-5713-1430-2DE85226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Dinamikus autó betöltés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Valós idejű szűrés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Kártya alapú megjelenítés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Képek lazy loading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Hibaüzenetek kezelése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Szűrési Lehetőségek: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5 különböző szűrő típus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Kombinálható szűrők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Találatok számlálása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Szűrők törlése egy kattintással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600">
              <a:highlight>
                <a:srgbClr val="FFFFFF"/>
              </a:highlight>
              <a:latin typeface="Aptos"/>
            </a:endParaRPr>
          </a:p>
        </p:txBody>
      </p:sp>
      <p:pic>
        <p:nvPicPr>
          <p:cNvPr id="4" name="Kép 3" descr="A képen szöveg, Szárazföldi jármű, jármű, kerék látható&#10;&#10;Lehet, hogy az AI által létrehozott tartalom helytelen.">
            <a:extLst>
              <a:ext uri="{FF2B5EF4-FFF2-40B4-BE49-F238E27FC236}">
                <a16:creationId xmlns:a16="http://schemas.microsoft.com/office/drawing/2014/main" id="{A0FF1BF3-7E12-E7F0-F089-58D6DD29C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372" y="2028092"/>
            <a:ext cx="5820763" cy="482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78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3505CB-1E99-E255-E092-50AB1461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Dashboard Komponens - Felhasználói Panel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9FD382-1F72-484E-87D0-D93D9D4B9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Személyre szabott üdvözlés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Statisztikák megjelenítése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Legutóbbi bérlések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Népszerű autók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Gyors műveletek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Funkciók: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Bérlési előzmények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Új bérlés indítása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Profil kezelés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Kijelentkezés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200">
              <a:highlight>
                <a:srgbClr val="FFFFFF"/>
              </a:highlight>
              <a:latin typeface="Aptos"/>
            </a:endParaRPr>
          </a:p>
        </p:txBody>
      </p:sp>
      <p:pic>
        <p:nvPicPr>
          <p:cNvPr id="4" name="Kép 3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41FCFC75-C2BC-5AD8-5A9A-B45D1743E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76" y="2553717"/>
            <a:ext cx="7643447" cy="35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45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197ABC-F76B-E9FE-5811-37B39DEA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0">
                <a:latin typeface="Aptos"/>
              </a:rPr>
              <a:t>Bejelentkezés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D1A162-FBB4-CBC6-A454-A9046364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Email és jelszó validáció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Token alapú hitelesítés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Automatikus átirányítás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Hibaüzenetek kezelése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Regisztráció: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Többlépcsős folyamat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Email verifikáció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Jelszó erősség ellenőrzés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Felhasználóbarát visszajelzések</a:t>
            </a:r>
          </a:p>
        </p:txBody>
      </p:sp>
      <p:pic>
        <p:nvPicPr>
          <p:cNvPr id="4" name="Kép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18F49F1D-51ED-A0D2-252F-6A08B220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459" y="838200"/>
            <a:ext cx="31527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6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F6D0DD-2AEE-B2AE-A088-BC8BDA6E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API Service - Backend Kommunikáció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FC101A-FE52-E463-EB7B-5BD3D288F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Központosított HTTP kezelés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Observable alapú adatfolyam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Token kezelés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Hibakezelés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Főbb Metódusok: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getCars() - Autók lekérése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createRental() - Bérlés létrehozása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login() / register() - Autentikáció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sendContactMessage() - Kapcsolat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6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26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F74498-46A8-5700-3810-994E4AC0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Routing és Navigáció - Útvonalak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A9A898-4376-747C-1C60-8CA5950FD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/ - Főoldal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/cars - Autók listája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/login - Bejelentkezés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/register - Regisztráció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/dashboard - Felhasználói panel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Route Guards: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Védett útvonalak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Automatikus átirányítás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Jogosultság ellenőrzés</a:t>
            </a:r>
          </a:p>
        </p:txBody>
      </p:sp>
    </p:spTree>
    <p:extLst>
      <p:ext uri="{BB962C8B-B14F-4D97-AF65-F5344CB8AC3E}">
        <p14:creationId xmlns:p14="http://schemas.microsoft.com/office/powerpoint/2010/main" val="4196810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8711A5-3DDD-54FA-A9CD-584F41F5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Reszponzív Dizájn - Mobile-First Megközelítés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BF0DFE-E104-7377-D03C-6F277305A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Flexbox layout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Media queries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Touch-friendly elemek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Optimalizált képek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Támogatott Eszközök: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Desktop (1920px+)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Tablet (768px - 1024px)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Mobile (320px - 767px)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2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12765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846B77-3FF7-EFB8-79CA-7516B3D8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Teljesítmény Optimalizáció - Optimalizációs Technikák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84F9C2-BF10-1F1A-155E-59610ECB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Lazy loading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OnPush change detection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Standalone komponensek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Tree-shaking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Production build optimalizáció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Eredmények: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Gyors betöltési idő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Kis bundle méret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Smooth animációk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2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02920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6F158B-FD29-5799-0957-143D7123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Hibakezelés</a:t>
            </a:r>
            <a:br>
              <a:rPr lang="hu-HU" b="0">
                <a:highlight>
                  <a:srgbClr val="FFFFFF"/>
                </a:highlight>
                <a:latin typeface="Aptos"/>
              </a:rPr>
            </a:br>
            <a:endParaRPr lang="hu-HU" sz="1200" b="0"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389C23-E4E3-ADC2-C005-FD27FBDF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Try-catch blokkok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HTTP error interceptor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Felhasználóbarát üzenetek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Console logging (dev)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Fallback UI elemek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Validációk: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Frontend validáció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Backend validáció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Real-time feedback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6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2700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0E48A0-9B5D-24F6-F991-703F18CA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0">
                <a:latin typeface="Aptos"/>
              </a:rPr>
              <a:t>Frontend Biztonság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06C53A-D178-D739-DC52-862C53538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XSS védelem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CSRF token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Secure token tárolás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Input sanitization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HTTPS kommunikáció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Best Practices: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Environment variables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Secure routing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Token expiration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2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38579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AB294F-94FF-147C-5E6B-485E07A2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hu-HU" sz="3400">
                <a:latin typeface="Aptos"/>
                <a:ea typeface="+mj-lt"/>
                <a:cs typeface="+mj-lt"/>
              </a:rPr>
              <a:t>Backend tesztelés – Jest</a:t>
            </a:r>
            <a:endParaRPr lang="hu-HU" sz="3400">
              <a:latin typeface="Apto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rtalom helye 2">
            <a:extLst>
              <a:ext uri="{FF2B5EF4-FFF2-40B4-BE49-F238E27FC236}">
                <a16:creationId xmlns:a16="http://schemas.microsoft.com/office/drawing/2014/main" id="{E3D85469-984B-42A3-6CBE-F02215CAB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9124250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5550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95CC36F-4268-A558-6167-FA3458D6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hu-HU" sz="3400" b="0">
                <a:latin typeface="Aptos"/>
                <a:ea typeface="+mj-lt"/>
                <a:cs typeface="+mj-lt"/>
              </a:rPr>
              <a:t>Frontend tesztelés – Jasmine / Karma</a:t>
            </a:r>
            <a:endParaRPr lang="hu-HU" sz="3400">
              <a:latin typeface="Apto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rtalom helye 2">
            <a:extLst>
              <a:ext uri="{FF2B5EF4-FFF2-40B4-BE49-F238E27FC236}">
                <a16:creationId xmlns:a16="http://schemas.microsoft.com/office/drawing/2014/main" id="{8D20CF47-2C00-BB8A-A5C1-2F61C1B36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07004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9678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FF73ED-83C5-AEE1-F9F2-5D5972FAD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hu-HU" b="0">
                <a:latin typeface="Aptos"/>
                <a:ea typeface="+mj-lt"/>
                <a:cs typeface="+mj-lt"/>
              </a:rPr>
              <a:t>Jira Kanban</a:t>
            </a:r>
            <a:endParaRPr lang="hu-HU">
              <a:latin typeface="Aptos"/>
            </a:endParaRPr>
          </a:p>
          <a:p>
            <a:endParaRPr lang="hu-HU"/>
          </a:p>
        </p:txBody>
      </p:sp>
      <p:pic>
        <p:nvPicPr>
          <p:cNvPr id="4" name="Tartalom helye 3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D64AD7C5-D6C8-ACEA-69F1-AB7561C65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02131"/>
            <a:ext cx="5648193" cy="266877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8BBB4B-0CDA-5769-AFEF-DF945F5B8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 fontScale="85000" lnSpcReduction="10000"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Agile </a:t>
            </a:r>
            <a:r>
              <a:rPr lang="en-US" err="1">
                <a:latin typeface="Aptos"/>
                <a:ea typeface="+mn-lt"/>
                <a:cs typeface="+mn-lt"/>
              </a:rPr>
              <a:t>feladatkövetés</a:t>
            </a:r>
            <a:endParaRPr lang="en-US" err="1">
              <a:latin typeface="Aptos"/>
            </a:endParaRPr>
          </a:p>
          <a:p>
            <a:r>
              <a:rPr lang="en-US" err="1">
                <a:latin typeface="Aptos"/>
                <a:ea typeface="+mn-lt"/>
                <a:cs typeface="+mn-lt"/>
              </a:rPr>
              <a:t>Oszlopok</a:t>
            </a:r>
            <a:r>
              <a:rPr lang="en-US">
                <a:latin typeface="Aptos"/>
                <a:ea typeface="+mn-lt"/>
                <a:cs typeface="+mn-lt"/>
              </a:rPr>
              <a:t>: </a:t>
            </a:r>
            <a:r>
              <a:rPr lang="en-US" err="1">
                <a:latin typeface="Aptos"/>
                <a:ea typeface="+mn-lt"/>
                <a:cs typeface="+mn-lt"/>
              </a:rPr>
              <a:t>Elintézendő</a:t>
            </a:r>
            <a:r>
              <a:rPr lang="en-US">
                <a:latin typeface="Aptos"/>
                <a:ea typeface="+mn-lt"/>
                <a:cs typeface="+mn-lt"/>
              </a:rPr>
              <a:t> → </a:t>
            </a:r>
            <a:r>
              <a:rPr lang="en-US" err="1">
                <a:latin typeface="Aptos"/>
                <a:ea typeface="+mn-lt"/>
                <a:cs typeface="+mn-lt"/>
              </a:rPr>
              <a:t>Folyamatban</a:t>
            </a:r>
            <a:r>
              <a:rPr lang="en-US">
                <a:latin typeface="Aptos"/>
                <a:ea typeface="+mn-lt"/>
                <a:cs typeface="+mn-lt"/>
              </a:rPr>
              <a:t> → Kész</a:t>
            </a:r>
            <a:endParaRPr lang="en-US">
              <a:latin typeface="Aptos"/>
            </a:endParaRPr>
          </a:p>
          <a:p>
            <a:r>
              <a:rPr lang="en-US" err="1">
                <a:latin typeface="Aptos"/>
                <a:ea typeface="+mn-lt"/>
                <a:cs typeface="+mn-lt"/>
              </a:rPr>
              <a:t>Állapot</a:t>
            </a:r>
            <a:r>
              <a:rPr lang="en-US">
                <a:latin typeface="Aptos"/>
                <a:ea typeface="+mn-lt"/>
                <a:cs typeface="+mn-lt"/>
              </a:rPr>
              <a:t>: 1 </a:t>
            </a:r>
            <a:r>
              <a:rPr lang="en-US" err="1">
                <a:latin typeface="Aptos"/>
                <a:ea typeface="+mn-lt"/>
                <a:cs typeface="+mn-lt"/>
              </a:rPr>
              <a:t>folyamatban</a:t>
            </a:r>
            <a:r>
              <a:rPr lang="en-US">
                <a:latin typeface="Aptos"/>
                <a:ea typeface="+mn-lt"/>
                <a:cs typeface="+mn-lt"/>
              </a:rPr>
              <a:t> (PPT), 6 </a:t>
            </a:r>
            <a:r>
              <a:rPr lang="en-US" err="1">
                <a:latin typeface="Aptos"/>
                <a:ea typeface="+mn-lt"/>
                <a:cs typeface="+mn-lt"/>
              </a:rPr>
              <a:t>kész</a:t>
            </a:r>
            <a:r>
              <a:rPr lang="en-US">
                <a:latin typeface="Aptos"/>
                <a:ea typeface="+mn-lt"/>
                <a:cs typeface="+mn-lt"/>
              </a:rPr>
              <a:t> (</a:t>
            </a:r>
            <a:r>
              <a:rPr lang="en-US" err="1">
                <a:latin typeface="Aptos"/>
                <a:ea typeface="+mn-lt"/>
                <a:cs typeface="+mn-lt"/>
              </a:rPr>
              <a:t>teszt</a:t>
            </a:r>
            <a:r>
              <a:rPr lang="en-US">
                <a:latin typeface="Aptos"/>
                <a:ea typeface="+mn-lt"/>
                <a:cs typeface="+mn-lt"/>
              </a:rPr>
              <a:t>, </a:t>
            </a:r>
            <a:r>
              <a:rPr lang="en-US" err="1">
                <a:latin typeface="Aptos"/>
                <a:ea typeface="+mn-lt"/>
                <a:cs typeface="+mn-lt"/>
              </a:rPr>
              <a:t>védés</a:t>
            </a:r>
            <a:r>
              <a:rPr lang="en-US">
                <a:latin typeface="Aptos"/>
                <a:ea typeface="+mn-lt"/>
                <a:cs typeface="+mn-lt"/>
              </a:rPr>
              <a:t>, backend, frontend, </a:t>
            </a:r>
            <a:r>
              <a:rPr lang="en-US" err="1">
                <a:latin typeface="Aptos"/>
                <a:ea typeface="+mn-lt"/>
                <a:cs typeface="+mn-lt"/>
              </a:rPr>
              <a:t>adatbázis</a:t>
            </a:r>
            <a:r>
              <a:rPr lang="en-US">
                <a:latin typeface="Aptos"/>
                <a:ea typeface="+mn-lt"/>
                <a:cs typeface="+mn-lt"/>
              </a:rPr>
              <a:t>, </a:t>
            </a:r>
            <a:r>
              <a:rPr lang="en-US" err="1">
                <a:latin typeface="Aptos"/>
                <a:ea typeface="+mn-lt"/>
                <a:cs typeface="+mn-lt"/>
              </a:rPr>
              <a:t>doksik</a:t>
            </a:r>
            <a:r>
              <a:rPr lang="en-US">
                <a:latin typeface="Aptos"/>
                <a:ea typeface="+mn-lt"/>
                <a:cs typeface="+mn-lt"/>
              </a:rPr>
              <a:t>)</a:t>
            </a:r>
            <a:endParaRPr lang="en-US">
              <a:latin typeface="Aptos"/>
            </a:endParaRPr>
          </a:p>
          <a:p>
            <a:r>
              <a:rPr lang="en-US" err="1">
                <a:latin typeface="Aptos"/>
                <a:ea typeface="+mn-lt"/>
                <a:cs typeface="+mn-lt"/>
              </a:rPr>
              <a:t>Ticketek</a:t>
            </a:r>
            <a:r>
              <a:rPr lang="en-US">
                <a:latin typeface="Aptos"/>
                <a:ea typeface="+mn-lt"/>
                <a:cs typeface="+mn-lt"/>
              </a:rPr>
              <a:t>: CAR-7 → CAR-13 (checkbox, assignee)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Előny: </a:t>
            </a:r>
            <a:r>
              <a:rPr lang="en-US" err="1">
                <a:latin typeface="Aptos"/>
                <a:ea typeface="+mn-lt"/>
                <a:cs typeface="+mn-lt"/>
              </a:rPr>
              <a:t>Valós</a:t>
            </a:r>
            <a:r>
              <a:rPr lang="en-US">
                <a:latin typeface="Aptos"/>
                <a:ea typeface="+mn-lt"/>
                <a:cs typeface="+mn-lt"/>
              </a:rPr>
              <a:t> </a:t>
            </a:r>
            <a:r>
              <a:rPr lang="en-US" err="1">
                <a:latin typeface="Aptos"/>
                <a:ea typeface="+mn-lt"/>
                <a:cs typeface="+mn-lt"/>
              </a:rPr>
              <a:t>idejű</a:t>
            </a:r>
            <a:r>
              <a:rPr lang="en-US">
                <a:latin typeface="Aptos"/>
                <a:ea typeface="+mn-lt"/>
                <a:cs typeface="+mn-lt"/>
              </a:rPr>
              <a:t> </a:t>
            </a:r>
            <a:r>
              <a:rPr lang="en-US" err="1">
                <a:latin typeface="Aptos"/>
                <a:ea typeface="+mn-lt"/>
                <a:cs typeface="+mn-lt"/>
              </a:rPr>
              <a:t>haladás</a:t>
            </a:r>
            <a:r>
              <a:rPr lang="en-US">
                <a:latin typeface="Aptos"/>
                <a:ea typeface="+mn-lt"/>
                <a:cs typeface="+mn-lt"/>
              </a:rPr>
              <a:t>, </a:t>
            </a:r>
            <a:r>
              <a:rPr lang="en-US" err="1">
                <a:latin typeface="Aptos"/>
                <a:ea typeface="+mn-lt"/>
                <a:cs typeface="+mn-lt"/>
              </a:rPr>
              <a:t>priorizálás</a:t>
            </a:r>
            <a:r>
              <a:rPr lang="en-US">
                <a:latin typeface="Aptos"/>
                <a:ea typeface="+mn-lt"/>
                <a:cs typeface="+mn-lt"/>
              </a:rPr>
              <a:t>, </a:t>
            </a:r>
            <a:r>
              <a:rPr lang="en-US" err="1">
                <a:latin typeface="Aptos"/>
                <a:ea typeface="+mn-lt"/>
                <a:cs typeface="+mn-lt"/>
              </a:rPr>
              <a:t>átláthatóság</a:t>
            </a:r>
            <a:endParaRPr lang="en-US" err="1">
              <a:latin typeface="Aptos"/>
            </a:endParaRPr>
          </a:p>
          <a:p>
            <a:r>
              <a:rPr lang="en-US" err="1">
                <a:latin typeface="Aptos"/>
                <a:ea typeface="+mn-lt"/>
                <a:cs typeface="+mn-lt"/>
              </a:rPr>
              <a:t>Eszköz</a:t>
            </a:r>
            <a:r>
              <a:rPr lang="en-US">
                <a:latin typeface="Aptos"/>
                <a:ea typeface="+mn-lt"/>
                <a:cs typeface="+mn-lt"/>
              </a:rPr>
              <a:t>:  Jira</a:t>
            </a:r>
            <a:endParaRPr lang="en-US">
              <a:latin typeface="Aptos"/>
            </a:endParaRPr>
          </a:p>
          <a:p>
            <a:endParaRPr lang="en-US"/>
          </a:p>
        </p:txBody>
      </p:sp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125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35135A-FD76-FB67-F0A6-A5981206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b="0">
                <a:highlight>
                  <a:srgbClr val="FFFFFF"/>
                </a:highlight>
                <a:latin typeface="Aptos"/>
              </a:rPr>
              <a:t>Jövőbeli Fejlesztések - Tervezett Funkciók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F39405-00A4-7F0F-8EAC-55C673876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sz="1600">
                <a:highlight>
                  <a:srgbClr val="FFFFFF"/>
                </a:highlight>
                <a:latin typeface="Aptos"/>
              </a:rPr>
              <a:t>Kedvencek lista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Értékelési rendszer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Chatbot támogatás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Többnyelvűség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Push notifikációk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Fizetési integráció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Technikai Fejlesztések: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PWA támogatás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r>
              <a:rPr lang="hu-HU" sz="1600">
                <a:highlight>
                  <a:srgbClr val="FFFFFF"/>
                </a:highlight>
                <a:latin typeface="Aptos"/>
              </a:rPr>
              <a:t>Offline mód</a:t>
            </a:r>
            <a:br>
              <a:rPr lang="hu-HU" sz="1600">
                <a:highlight>
                  <a:srgbClr val="FFFFFF"/>
                </a:highlight>
                <a:latin typeface="Aptos"/>
              </a:rPr>
            </a:br>
            <a:endParaRPr lang="hu-HU" sz="1600">
              <a:highlight>
                <a:srgbClr val="FFFFFF"/>
              </a:highlight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2032599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TC103457485[[fn=Mesh]]</Template>
  <Application>Microsoft Office PowerPoint</Application>
  <PresentationFormat>Szélesvásznú</PresentationFormat>
  <Slides>34</Slides>
  <Notes>1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35" baseType="lpstr">
      <vt:lpstr>DashVTI</vt:lpstr>
      <vt:lpstr>CarGo Projekt bemutató</vt:lpstr>
      <vt:lpstr>BEVEZETŐ - AZ ÖTLET ÉS A PROBLÉMA </vt:lpstr>
      <vt:lpstr> Kinek készült?</vt:lpstr>
      <vt:lpstr> Rendszer Architektúra – A Nagy Kép</vt:lpstr>
      <vt:lpstr> Hogyan épül fel a rendszer?</vt:lpstr>
      <vt:lpstr> Háromrétegű architektúra</vt:lpstr>
      <vt:lpstr> MI A BACKEND?</vt:lpstr>
      <vt:lpstr>API VÉGPONTOK  </vt:lpstr>
      <vt:lpstr>REST API – Szabványos kommunikáció</vt:lpstr>
      <vt:lpstr>Endpoint működése</vt:lpstr>
      <vt:lpstr>BACKEND FELÉPÍTÉS - MODULÁRIS STRUKTÚRA</vt:lpstr>
      <vt:lpstr> BACKEND TECHNOLÓGIÁK</vt:lpstr>
      <vt:lpstr> Express.js – Egyszerű és rugalmas Node.js keretrendszer</vt:lpstr>
      <vt:lpstr>Egyéb eszközök és miért használtuk őket</vt:lpstr>
      <vt:lpstr>12.Miért MySQL?</vt:lpstr>
      <vt:lpstr>13. Rendszer alapjai – 4 tábla</vt:lpstr>
      <vt:lpstr>Projekt Struktúra Komponens Architektúra: </vt:lpstr>
      <vt:lpstr>Főbb Funkciók - 1. Felhasználói Fiók </vt:lpstr>
      <vt:lpstr>Főbb Funkciók - 2. Autó Keresés és Szűrés  </vt:lpstr>
      <vt:lpstr>Főbb Funkciók - 3. Rental Modal - Bérlési Folyamat</vt:lpstr>
      <vt:lpstr>Home Komponens - Főoldal Funkciók</vt:lpstr>
      <vt:lpstr>Cars Komponens - Autók Listázása </vt:lpstr>
      <vt:lpstr>Dashboard Komponens - Felhasználói Panel</vt:lpstr>
      <vt:lpstr>Bejelentkezés</vt:lpstr>
      <vt:lpstr>API Service - Backend Kommunikáció</vt:lpstr>
      <vt:lpstr>Routing és Navigáció - Útvonalak</vt:lpstr>
      <vt:lpstr>Reszponzív Dizájn - Mobile-First Megközelítés</vt:lpstr>
      <vt:lpstr>Teljesítmény Optimalizáció - Optimalizációs Technikák</vt:lpstr>
      <vt:lpstr>Hibakezelés </vt:lpstr>
      <vt:lpstr>Frontend Biztonság</vt:lpstr>
      <vt:lpstr>Backend tesztelés – Jest</vt:lpstr>
      <vt:lpstr>Frontend tesztelés – Jasmine / Karma</vt:lpstr>
      <vt:lpstr>Jira Kanban </vt:lpstr>
      <vt:lpstr>Jövőbeli Fejlesztések - Tervezett Funkciók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 Projekt bemutató</dc:title>
  <dc:creator/>
  <cp:revision>141</cp:revision>
  <dcterms:created xsi:type="dcterms:W3CDTF">2026-03-05T08:44:54Z</dcterms:created>
  <dcterms:modified xsi:type="dcterms:W3CDTF">2026-05-17T14:58:22Z</dcterms:modified>
</cp:coreProperties>
</file>